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494a248d4b4092" /><Relationship Type="http://schemas.openxmlformats.org/officeDocument/2006/relationships/extended-properties" Target="/docProps/app.xml" Id="R9fe1e5decf3d4140" /><Relationship Type="http://schemas.openxmlformats.org/officeDocument/2006/relationships/officeDocument" Target="/ppt/presentation.xml" Id="Rf19b45b78fa946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caa5649f2844f6"/>
  </p:sldMasterIdLst>
  <p:notesMasterIdLst>
    <p:notesMasterId xmlns:r="http://schemas.openxmlformats.org/officeDocument/2006/relationships" r:id="Rfbaafdeead7c4c7a"/>
  </p:notesMasterIdLst>
  <p:sldIdLst>
    <p:sldId xmlns:r="http://schemas.openxmlformats.org/officeDocument/2006/relationships" id="256" r:id="R66540fe4e5a844c3"/>
    <p:sldId xmlns:r="http://schemas.openxmlformats.org/officeDocument/2006/relationships" id="257" r:id="R61966044a6434ea1"/>
    <p:sldId xmlns:r="http://schemas.openxmlformats.org/officeDocument/2006/relationships" id="258" r:id="R846f0997019e4b1a"/>
    <p:sldId xmlns:r="http://schemas.openxmlformats.org/officeDocument/2006/relationships" id="259" r:id="R92e4aa9981924c2d"/>
    <p:sldId xmlns:r="http://schemas.openxmlformats.org/officeDocument/2006/relationships" id="260" r:id="Rbe01d5a16d8142c6"/>
    <p:sldId xmlns:r="http://schemas.openxmlformats.org/officeDocument/2006/relationships" id="261" r:id="R1463b887fc3b47a3"/>
    <p:sldId xmlns:r="http://schemas.openxmlformats.org/officeDocument/2006/relationships" id="262" r:id="R7ab07cfe37474d09"/>
    <p:sldId xmlns:r="http://schemas.openxmlformats.org/officeDocument/2006/relationships" id="263" r:id="R05c19c8f4df94c26"/>
    <p:sldId xmlns:r="http://schemas.openxmlformats.org/officeDocument/2006/relationships" id="264" r:id="R67ab92bc99e84a51"/>
    <p:sldId xmlns:r="http://schemas.openxmlformats.org/officeDocument/2006/relationships" id="265" r:id="Rc67cc3e6c70d4158"/>
    <p:sldId xmlns:r="http://schemas.openxmlformats.org/officeDocument/2006/relationships" id="266" r:id="Re3125d78bc9d4d32"/>
    <p:sldId xmlns:r="http://schemas.openxmlformats.org/officeDocument/2006/relationships" id="267" r:id="R0cad42e14446414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158c6c70914c4b" /><Relationship Type="http://schemas.openxmlformats.org/officeDocument/2006/relationships/slideMaster" Target="/ppt/slideMasters/slideMaster1.xml" Id="Rbdcaa5649f2844f6" /><Relationship Type="http://schemas.openxmlformats.org/officeDocument/2006/relationships/notesMaster" Target="/ppt/notesMasters/notesMaster1.xml" Id="Rfbaafdeead7c4c7a" /><Relationship Type="http://schemas.openxmlformats.org/officeDocument/2006/relationships/presProps" Target="/ppt/presProps.xml" Id="R60c12d0f3f6f4846" /><Relationship Type="http://schemas.openxmlformats.org/officeDocument/2006/relationships/viewProps" Target="/ppt/viewProps.xml" Id="R7fc426d3590d4359" /><Relationship Type="http://schemas.openxmlformats.org/officeDocument/2006/relationships/tableStyles" Target="/ppt/tableStyles.xml" Id="Rdc26e6d32537499e" /><Relationship Type="http://schemas.openxmlformats.org/officeDocument/2006/relationships/slide" Target="/ppt/slides/slide1.xml" Id="R66540fe4e5a844c3" /><Relationship Type="http://schemas.openxmlformats.org/officeDocument/2006/relationships/slide" Target="/ppt/slides/slide2.xml" Id="R61966044a6434ea1" /><Relationship Type="http://schemas.openxmlformats.org/officeDocument/2006/relationships/slide" Target="/ppt/slides/slide3.xml" Id="R846f0997019e4b1a" /><Relationship Type="http://schemas.openxmlformats.org/officeDocument/2006/relationships/slide" Target="/ppt/slides/slide4.xml" Id="R92e4aa9981924c2d" /><Relationship Type="http://schemas.openxmlformats.org/officeDocument/2006/relationships/slide" Target="/ppt/slides/slide5.xml" Id="Rbe01d5a16d8142c6" /><Relationship Type="http://schemas.openxmlformats.org/officeDocument/2006/relationships/slide" Target="/ppt/slides/slide6.xml" Id="R1463b887fc3b47a3" /><Relationship Type="http://schemas.openxmlformats.org/officeDocument/2006/relationships/slide" Target="/ppt/slides/slide7.xml" Id="R7ab07cfe37474d09" /><Relationship Type="http://schemas.openxmlformats.org/officeDocument/2006/relationships/slide" Target="/ppt/slides/slide8.xml" Id="R05c19c8f4df94c26" /><Relationship Type="http://schemas.openxmlformats.org/officeDocument/2006/relationships/slide" Target="/ppt/slides/slide9.xml" Id="R67ab92bc99e84a51" /><Relationship Type="http://schemas.openxmlformats.org/officeDocument/2006/relationships/slide" Target="/ppt/slides/slide10.xml" Id="Rc67cc3e6c70d4158" /><Relationship Type="http://schemas.openxmlformats.org/officeDocument/2006/relationships/slide" Target="/ppt/slides/slide11.xml" Id="Re3125d78bc9d4d32" /><Relationship Type="http://schemas.openxmlformats.org/officeDocument/2006/relationships/slide" Target="/ppt/slides/slide12.xml" Id="R0cad42e1444641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4a700d9510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1">
      <a:majorFont>
        <a:latin typeface="微软雅黑 bold"/>
        <a:ea typeface="微软雅黑 bold"/>
        <a:cs typeface=""/>
      </a:majorFont>
      <a:minorFont>
        <a:latin typeface="微软雅黑"/>
        <a:ea typeface="微软雅黑"/>
        <a:cs typeface=""/>
      </a:minorFont>
    </a:fontScheme>
    <a:fmtScheme name="红橙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a46e3bc35c47e6" /><Relationship Type="http://schemas.openxmlformats.org/officeDocument/2006/relationships/notesMaster" Target="/ppt/notesMasters/notesMaster1.xml" Id="R57178bdfa4354b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dcc2d7277d4f6d" /><Relationship Type="http://schemas.openxmlformats.org/officeDocument/2006/relationships/notesMaster" Target="/ppt/notesMasters/notesMaster1.xml" Id="R152a290bc52948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997c78fefd4280" /><Relationship Type="http://schemas.openxmlformats.org/officeDocument/2006/relationships/notesMaster" Target="/ppt/notesMasters/notesMaster1.xml" Id="R746d0f953b314c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b010688f7b4261" /><Relationship Type="http://schemas.openxmlformats.org/officeDocument/2006/relationships/notesMaster" Target="/ppt/notesMasters/notesMaster1.xml" Id="R41f0f9d31d4344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fdc6aaabc04575" /><Relationship Type="http://schemas.openxmlformats.org/officeDocument/2006/relationships/notesMaster" Target="/ppt/notesMasters/notesMaster1.xml" Id="Rfeb3eefa5e334d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cfaafde0e4458f" /><Relationship Type="http://schemas.openxmlformats.org/officeDocument/2006/relationships/notesMaster" Target="/ppt/notesMasters/notesMaster1.xml" Id="R64c5ec408a3e4c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24fc6d53844bc7" /><Relationship Type="http://schemas.openxmlformats.org/officeDocument/2006/relationships/notesMaster" Target="/ppt/notesMasters/notesMaster1.xml" Id="R2e79ef4e289b4c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1357e07b894fd1" /><Relationship Type="http://schemas.openxmlformats.org/officeDocument/2006/relationships/notesMaster" Target="/ppt/notesMasters/notesMaster1.xml" Id="Rbe28672945d243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a4a14b5f2c4301" /><Relationship Type="http://schemas.openxmlformats.org/officeDocument/2006/relationships/notesMaster" Target="/ppt/notesMasters/notesMaster1.xml" Id="R04776860b4bd43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cabdac82064460" /><Relationship Type="http://schemas.openxmlformats.org/officeDocument/2006/relationships/notesMaster" Target="/ppt/notesMasters/notesMaster1.xml" Id="R7799ec7c8d0047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4a1259161c4601" /><Relationship Type="http://schemas.openxmlformats.org/officeDocument/2006/relationships/notesMaster" Target="/ppt/notesMasters/notesMaster1.xml" Id="R3f38e2d5a94e42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e96c928df34c77" /><Relationship Type="http://schemas.openxmlformats.org/officeDocument/2006/relationships/notesMaster" Target="/ppt/notesMasters/notesMaster1.xml" Id="R9255eae4834344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0:40. QEMU 使用线程、文件和内存管理接口。将 QEMU 移植到 Zephyr，可以检验 Zephyr 对这些 POSIX 接口的支持和语义差异。</a:t>
            </a:r>
          </a:p>
          <a:p xmlns:a="http://schemas.openxmlformats.org/drawingml/2006/main">
            <a:r>
              <a:t>来源：docs/paper.md。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2:00. QEMU on Zephyr 展示三个场景：Zephyr 在 EL2 承载 Linux 客机、全系统仿真复现旧平台、用户态仿真运行 Linux AArch64 程序。硬件更新后，面向旧平台构建的软件仍可运行。性能与隔离能力需在目标硬件上评估。</a:t>
            </a:r>
          </a:p>
          <a:p xmlns:a="http://schemas.openxmlformats.org/drawingml/2006/main">
            <a:r>
              <a:t>来源：docs/paper.md，第 5.2 和 7 节；docs/architecture.md。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3:00. 左图统计 Zephyr 文档列出的 393 个 POSIX 接口名；右图统计 QEMU 使用的 50 项宿主 POSIX 接口。右图中 31 项可复用，8 项需 Zephyr 侧适配，11 项受限或未支持。Linux 客机 syscall ABI 由 User Mode 单独适配。</a:t>
            </a:r>
          </a:p>
          <a:p xmlns:a="http://schemas.openxmlformats.org/drawingml/2006/main">
            <a:r>
              <a:t>来源：docs/posix-assessment.md；docs/data/posix-inventory.json。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2:00. QOM/qdev 管理对象和设备生命周期；TCG 翻译客户机指令；ARM CPU 与设备模型定义机器行为。osdep.h 和 util/ 封装主机接口。GLib 子集提供 QEMU 使用的通用 C 工具；libfdt、zlib 沿用上游源码；Picolibc 来自 Zephyr SDK。</a:t>
            </a:r>
          </a:p>
          <a:p xmlns:a="http://schemas.openxmlformats.org/drawingml/2006/main">
            <a:r>
              <a:t>来源：docs/data/c-dependencies.json；docs/posix-assessment.md 的 C 库集成章节。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3:00. QEMU 运行在 Zephyr 之上，提供全系统仿真和 User Mode。全系统模式可用 EL1 TCG，也可由 Zephyr EL2 中的 ZHV 执行客机；User Mode 使用 AArch64 TCG，并把 Linux syscall 请求交给 Zephyr 适配层。验证平台是外层 QEMU virt；真实硬件部署需完成 BSP 和平台适配。VirtIO Block 提供挂载到 /images 的 Ext2 镜像。</a:t>
            </a:r>
          </a:p>
          <a:p xmlns:a="http://schemas.openxmlformats.org/drawingml/2006/main">
            <a:r>
              <a:t>来源：docs/architecture.md；docs/backends.md；docs/user-mode.md。</a:t>
            </a:r>
          </a:p>
          <a:p xmlns:a="http://schemas.openxmlformats.org/drawingml/2006/main">
            <a:r>
              <a:t>Native host CPU、HVF、3 GiB NanoJev 内存与 pmem 镜像详见 docs/nanojev.md。CNTV 为客体虚拟计时器，CNTHP 为宿主物理计时器。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QEMU 16 个补丁，Zephyr 9 个补丁。</a:t>
            </a:r>
          </a:p>
          <a:p xmlns:a="http://schemas.openxmlformats.org/drawingml/2006/main">
            <a:r>
              <a:t>上游文件总数按路径去重；逐行文件数为各补丁涉及的文件数，新增和删除行按补丁累计。</a:t>
            </a:r>
          </a:p>
          <a:p xmlns:a="http://schemas.openxmlformats.org/drawingml/2006/main">
            <a:r>
              <a:t>新增实现的范围为 src/qemu 的 C、头文件和汇编，以及 src/zephyr 的核心、API、构建、测试与配置文件。</a:t>
            </a:r>
          </a:p>
          <a:p xmlns:a="http://schemas.openxmlformats.org/drawingml/2006/main">
            <a:r>
              <a:t>来源：patches/qemu/series、patches/zephyr/series、docs/data/qemu-patches.csv 和对应源码。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2:00. System Mode 使用 EL1 TCG 或 EL2 ZHV。机器模型包括 Cortex-A53/A57/A72、PL011 和软件 GICv3；宿主通过 VirtIO Block 读取 Ext2 镜像。Alpine 配置运行 Xorg、JWM、xterm 和 xclock，分辨率为 800×600。User Mode 执行静态 AArch64 ELF，支持文件、内存、时钟和熵相关调用。</a:t>
            </a:r>
          </a:p>
          <a:p xmlns:a="http://schemas.openxmlformats.org/drawingml/2006/main">
            <a:r>
              <a:t>来源：docs/architecture.md；docs/backends.md；docs/user-mode.md；docs/desktop.md。</a:t>
            </a:r>
          </a:p>
          <a:p xmlns:a="http://schemas.openxmlformats.org/drawingml/2006/main">
            <a:r>
              <a:t>NanoJev 使用 Debian ARM64、动态 INT8 CPU 推理、3 GiB 内存和 1024×768 显示。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Agent 用于检索源码、盘点 POSIX 接口和依赖、草拟补丁、分析 CI 日志。工程师确定适配语义，审查补丁并验证运行结果。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四项 Skills 覆盖接口盘点、Zephyr provider 与 Kconfig 对照、POSIX 语义测试和证据报告。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2:50. 左侧展示 Alpine Linux 桌面运行于 QEMU System Mode，右侧展示静态 AArch64 程序通过 QEMU User Mode 在 Zephyr shell 中运行。</a:t>
            </a:r>
          </a:p>
          <a:p xmlns:a="http://schemas.openxmlformats.org/drawingml/2006/main">
            <a:r>
              <a:t>来源：docs/desktop.md。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演示在 QEMU on Zephyr 全系统模拟模式中运行 NanoJev 大模型推理，采用硬件虚拟化加速。</a:t>
            </a:r>
          </a:p>
          <a:p xmlns:a="http://schemas.openxmlformats.org/drawingml/2006/main">
            <a:r>
              <a:t>Debian ARM64 桌面运行 Qwen3-0.6B，线性层使用动态 INT8 量化，嵌入层、归一化和决策头使用 FP32。模型读取本地权重。</a:t>
            </a:r>
          </a:p>
          <a:p xmlns:a="http://schemas.openxmlformats.org/drawingml/2006/main">
            <a:r>
              <a:t>实际运行完成 65 次移动尝试、58 次模型调用，经过 7 次碰撞后抵达目标。</a:t>
            </a:r>
          </a:p>
          <a:p xmlns:a="http://schemas.openxmlformats.org/drawingml/2006/main">
            <a:r>
              <a:t>16 × 16 迷宫采用 loops 生成器和随机种子 17，包含 21 个岔路口、12 个独立环路和 2 个死路。</a:t>
            </a:r>
          </a:p>
          <a:p xmlns:a="http://schemas.openxmlformats.org/drawingml/2006/main">
            <a:r>
              <a:t>原始视频、模型输出和串口日志：build/nanojev-branched-validation。</a:t>
            </a:r>
          </a:p>
          <a:p xmlns:a="http://schemas.openxmlformats.org/drawingml/2006/main">
            <a:r>
              <a:t>NanoJev：https://github.com/TianyuCodings/NanoJev</a:t>
            </a:r>
          </a:p>
          <a:p xmlns:a="http://schemas.openxmlformats.org/drawingml/2006/main">
            <a:r>
              <a:t>运行实现：https://github.com/LeanFly/NanoJev/tree/9a5238fe86ca687ba264aabe0d26d77b3b93f939</a:t>
            </a:r>
          </a:p>
          <a:p xmlns:a="http://schemas.openxmlformats.org/drawingml/2006/main">
            <a:r>
              <a:t>模型：https://huggingface.co/C-Tianyu/NanoJev/tree/047b927b30882a1138fc504821b82ac145a4b81a/variants/local_atomic_seed17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Q&amp;A。感谢聆听，欢迎提问。二维码分别指向 QEMU on Zephyr 和 Agent Skills 仓库。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b5521312a4a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a1089324f44d8" /><Relationship Type="http://schemas.openxmlformats.org/officeDocument/2006/relationships/image" Target="/ppt/media/image.jpeg" Id="R18760b748db142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016dd70ee42a0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544BF7-CFF5-F95E-3B4E-C3DD0924B1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0269632-C712-5998-E3DE-06170850AB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AC5F26-F8E2-B3CF-3C43-53983745BC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F0E287F-DB5B-4B50-8B47-88E81E246F6C}" type="datetime1">
              <a:t>2026/9/26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E3B26D4-DCBC-1C76-ACA0-680F59AFF0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0EBFF2-8FDA-4A4A-0FC6-4CA99162FA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7BF5C4-8A84-42C8-907E-5226FA0F325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4955" y="525550"/>
            <a:ext cx="9460226" cy="61555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1AA1E7F-A9C7-D631-AFFA-4A222488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65019" cy="113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直角三角形 2">
            <a:extLst xmlns:a="http://schemas.openxmlformats.org/drawingml/2006/main">
              <a:ext uri="{FF2B5EF4-FFF2-40B4-BE49-F238E27FC236}">
                <a16:creationId xmlns:a16="http://schemas.microsoft.com/office/drawing/2014/main" id="{376EA191-0E13-A90C-7D67-1453C0BE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65019" y="0"/>
            <a:ext cx="188758" cy="11328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6C1DF3D-F50E-F813-2CCF-F8FCA6C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4284" y="6561977"/>
            <a:ext cx="1571595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">
                <a:solidFill>
                  <a:schemeClr val="bg1">
                    <a:lumMod val="85000"/>
                  </a:schemeClr>
                </a:solidFill>
              </a:rPr>
              <a:t>调度一次进程 承载一份使命</a:t>
            </a:r>
          </a:p>
        </p:txBody>
      </p:sp>
      <p:sp>
        <p:nvSpPr>
          <p:cNvPr id="10" name="直线连接符 9">
            <a:extLst xmlns:a="http://schemas.openxmlformats.org/drawingml/2006/main">
              <a:ext uri="{FF2B5EF4-FFF2-40B4-BE49-F238E27FC236}">
                <a16:creationId xmlns:a16="http://schemas.microsoft.com/office/drawing/2014/main" id="{A8DA538D-91CA-452D-A170-B564F46C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53535" y="6560191"/>
            <a:ext cx="1148493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" name="图片 4">
            <a:extLst xmlns:a="http://schemas.openxmlformats.org/drawingml/2006/main">
              <a:ext uri="{FF2B5EF4-FFF2-40B4-BE49-F238E27FC236}">
                <a16:creationId xmlns:a16="http://schemas.microsoft.com/office/drawing/2014/main" id="{30B320C7-86F6-42B7-950E-C7DC923167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60b748db1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9700" y="111357"/>
            <a:ext cx="2916179" cy="55968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8F834BD-70BC-139D-827B-487ECF8DD8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7D4898-D848-48BD-B929-ED5A650E485D}" type="datetime1">
              <a:t>2026/9/26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0F4E923-B6C6-22DD-B0C0-632BA44204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F0A6DA0-DB46-8FBC-4E4F-19753CB4D5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7BF5C4-8A84-42C8-907E-5226FA0F325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3f1bd4f5aa42a9" /><Relationship Type="http://schemas.openxmlformats.org/officeDocument/2006/relationships/slideLayout" Target="/ppt/slideLayouts/slideLayout1.xml" Id="R88f0dbf2296441cb" /><Relationship Type="http://schemas.openxmlformats.org/officeDocument/2006/relationships/slideLayout" Target="/ppt/slideLayouts/slideLayout2.xml" Id="Rfb14c9ad0d2147a1" /><Relationship Type="http://schemas.openxmlformats.org/officeDocument/2006/relationships/slideLayout" Target="/ppt/slideLayouts/slideLayout3.xml" Id="R5b8f47cdde714f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07A60F6-55FD-718D-7CA9-972A70997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1869375-3822-BA87-D5EC-D4BD7F9734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3A97707-4E4E-D10E-FD3B-85E1CA70191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E0B325A-ED17-4C2E-9D0F-9510ED35EF4D}" type="datetime1">
              <a:t>2026/9/26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3521EA1-1CB2-8D44-DC57-BAEC7D5B8CD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0B82189-C559-AD96-28FE-F658A98348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A7BF5C4-8A84-42C8-907E-5226FA0F325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f0dbf2296441cb"/>
    <p:sldLayoutId xmlns:r="http://schemas.openxmlformats.org/officeDocument/2006/relationships" id="2147483650" r:id="Rfb14c9ad0d2147a1"/>
    <p:sldLayoutId xmlns:r="http://schemas.openxmlformats.org/officeDocument/2006/relationships" id="2147483651" r:id="R5b8f47cdde714fca"/>
  </p:sldLayoutIdLst>
  <p:hf sldNum="0"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1">
      <a:majorFont>
        <a:latin typeface="微软雅黑 bold"/>
        <a:ea typeface="微软雅黑 bold"/>
        <a:cs typeface=""/>
      </a:majorFont>
      <a:minorFont>
        <a:latin typeface="微软雅黑"/>
        <a:ea typeface="微软雅黑"/>
        <a:cs typeface=""/>
      </a:minorFont>
    </a:fontScheme>
    <a:fmtScheme name="红橙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dd5b3de73245a6" /><Relationship Type="http://schemas.openxmlformats.org/officeDocument/2006/relationships/image" Target="/ppt/media/image.png" Id="R2868344af9e44de4" /><Relationship Type="http://schemas.openxmlformats.org/officeDocument/2006/relationships/image" Target="/ppt/media/image.jpeg" Id="Re2290943aea6400a" /><Relationship Type="http://schemas.openxmlformats.org/officeDocument/2006/relationships/notesSlide" Target="/ppt/notesSlides/notesSlide1.xml" Id="Re33f68efd024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e4def940794fbc" /><Relationship Type="http://schemas.openxmlformats.org/officeDocument/2006/relationships/notesSlide" Target="/ppt/notesSlides/notesSlide2.xml" Id="R1e2f2981316442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269aa3f73148c3" /><Relationship Type="http://schemas.openxmlformats.org/officeDocument/2006/relationships/chart" Target="/ppt/slides/charts/chart1.xml" Id="Rf34f20fd84124581" /><Relationship Type="http://schemas.openxmlformats.org/officeDocument/2006/relationships/chart" Target="/ppt/slides/charts/chart2.xml" Id="R8f80169d3f7b467a" /><Relationship Type="http://schemas.openxmlformats.org/officeDocument/2006/relationships/notesSlide" Target="/ppt/notesSlides/notesSlide3.xml" Id="R7431640b1e954e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442caaf9d34179" /><Relationship Type="http://schemas.openxmlformats.org/officeDocument/2006/relationships/notesSlide" Target="/ppt/notesSlides/notesSlide4.xml" Id="Rd8701b8e59c342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03069d14014a66" /><Relationship Type="http://schemas.openxmlformats.org/officeDocument/2006/relationships/notesSlide" Target="/ppt/notesSlides/notesSlide5.xml" Id="R6123d84cba2a48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492711f464c50" /><Relationship Type="http://schemas.openxmlformats.org/officeDocument/2006/relationships/notesSlide" Target="/ppt/notesSlides/notesSlide6.xml" Id="R47d11e37e87448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784a257e924295" /><Relationship Type="http://schemas.openxmlformats.org/officeDocument/2006/relationships/notesSlide" Target="/ppt/notesSlides/notesSlide7.xml" Id="Ra2139a8b6e4243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3fad6b15264280" /><Relationship Type="http://schemas.openxmlformats.org/officeDocument/2006/relationships/notesSlide" Target="/ppt/notesSlides/notesSlide8.xml" Id="R14c89f35c5134f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16b7258bb34ec1" /><Relationship Type="http://schemas.openxmlformats.org/officeDocument/2006/relationships/notesSlide" Target="/ppt/notesSlides/notesSlide9.xml" Id="R8e09affc1e4543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5478fcf7ff4b22" /><Relationship Type="http://schemas.openxmlformats.org/officeDocument/2006/relationships/image" Target="/ppt/media/image.gif" Id="R4ab6d52503564b45" /><Relationship Type="http://schemas.openxmlformats.org/officeDocument/2006/relationships/image" Target="/ppt/media/image2.gif" Id="R152c769ab4864b55" /><Relationship Type="http://schemas.openxmlformats.org/officeDocument/2006/relationships/notesSlide" Target="/ppt/notesSlides/notesSlide10.xml" Id="Re12a3f66334f44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6001d5114a44c5" /><Relationship Type="http://schemas.openxmlformats.org/officeDocument/2006/relationships/image" Target="/ppt/media/image3.gif" Id="R7edf6a29072b4dee" /><Relationship Type="http://schemas.openxmlformats.org/officeDocument/2006/relationships/notesSlide" Target="/ppt/notesSlides/notesSlide11.xml" Id="Re9d222ca418a47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fdfe32c9a94358" /><Relationship Type="http://schemas.openxmlformats.org/officeDocument/2006/relationships/image" Target="/ppt/media/image2.png" Id="R1af6a0df379e435f" /><Relationship Type="http://schemas.openxmlformats.org/officeDocument/2006/relationships/hyperlink" Target="https://github.com/processmission/qemu-on-zephyr" TargetMode="External" Id="Rc5b92a77eda54743" /><Relationship Type="http://schemas.openxmlformats.org/officeDocument/2006/relationships/image" Target="/ppt/media/image3.png" Id="R979acbc08f4a4757" /><Relationship Type="http://schemas.openxmlformats.org/officeDocument/2006/relationships/hyperlink" Target="https://github.com/processmission/agent-skills" TargetMode="External" Id="Rcd204ade04db454a" /><Relationship Type="http://schemas.openxmlformats.org/officeDocument/2006/relationships/notesSlide" Target="/ppt/notesSlides/notesSlide12.xml" Id="Re46baf14fff34497" /></Relationships>
</file>

<file path=ppt/slides/charts/chart1.xml><?xml version="1.0" encoding="utf-8"?>
<c:chartSpace xmlns:c="http://schemas.openxmlformats.org/drawingml/2006/chart">
  <c:lang val="en-US"/>
  <c:chart>
    <c:plotArea>
      <c:pieChart>
        <c:ser>
          <c:idx val="0"/>
          <c:order val="0"/>
          <c:tx>
            <c:v>Zephyr POSIX catalog</c:v>
          </c:tx>
          <c:dPt>
            <c:idx val="0"/>
            <c:spPr>
              <a:solidFill xmlns:a="http://schemas.openxmlformats.org/drawingml/2006/main">
                <a:srgbClr val="B1270A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96969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E4E4E4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3"/>
              <c:pt idx="0">
                <c:v>Unqualified yes</c:v>
              </c:pt>
              <c:pt idx="1">
                <c:v>Qualified / undefined</c:v>
              </c:pt>
              <c:pt idx="2">
                <c:v>Unmarked</c:v>
              </c:pt>
            </c:strLit>
          </c:cat>
          <c:val>
            <c:numLit>
              <c:formatCode>General</c:formatCode>
              <c:ptCount val="3"/>
              <c:pt idx="0">
                <c:v>289</c:v>
              </c:pt>
              <c:pt idx="1">
                <c:v>53</c:v>
              </c:pt>
              <c:pt idx="2">
                <c:v>51</c:v>
              </c:pt>
            </c:numLit>
          </c:val>
        </c:ser>
        <c:firstSliceAng val="270"/>
      </c:pie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pieChart>
        <c:ser>
          <c:idx val="0"/>
          <c:order val="0"/>
          <c:tx>
            <c:v>QEMU host POSIX interfaces</c:v>
          </c:tx>
          <c:dPt>
            <c:idx val="0"/>
            <c:spPr>
              <a:solidFill xmlns:a="http://schemas.openxmlformats.org/drawingml/2006/main">
                <a:srgbClr val="B1270A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0072B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96969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3"/>
              <c:pt idx="0">
                <c:v>Reusable from Zephyr POSIX</c:v>
              </c:pt>
              <c:pt idx="1">
                <c:v>Requires Zephyr adaptation</c:v>
              </c:pt>
              <c:pt idx="2">
                <c:v>Limited or unavailable</c:v>
              </c:pt>
            </c:strLit>
          </c:cat>
          <c:val>
            <c:numLit>
              <c:formatCode>General</c:formatCode>
              <c:ptCount val="3"/>
              <c:pt idx="0">
                <c:v>31</c:v>
              </c:pt>
              <c:pt idx="1">
                <c:v>8</c:v>
              </c:pt>
              <c:pt idx="2">
                <c:v>11</c:v>
              </c:pt>
            </c:numLit>
          </c:val>
        </c:ser>
        <c:firstSliceAng val="270"/>
      </c:pie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B9898034-FBBF-4D85-AC7A-015F4E42D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8344af9e44de4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"/>
            <a:ext cx="12192000" cy="6854353"/>
          </a:xfrm>
          <a:prstGeom xmlns:a="http://schemas.openxmlformats.org/drawingml/2006/main" prst="rect">
            <a:avLst/>
          </a:prstGeom>
        </p:spPr>
      </p:pic>
      <p:sp>
        <p:nvSpPr>
          <p:cNvPr id="3" name="TextBox 7">
            <a:extLst xmlns:a="http://schemas.openxmlformats.org/drawingml/2006/main">
              <a:ext uri="{FF2B5EF4-FFF2-40B4-BE49-F238E27FC236}">
                <a16:creationId xmlns:a16="http://schemas.microsoft.com/office/drawing/2014/main" id="{8ABC7454-0760-FC23-0F9D-2C3F5663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52925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Chao Liu</a:t>
            </a:r>
            <a:endParaRPr sz="11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8">
            <a:extLst xmlns:a="http://schemas.openxmlformats.org/drawingml/2006/main">
              <a:ext uri="{FF2B5EF4-FFF2-40B4-BE49-F238E27FC236}">
                <a16:creationId xmlns:a16="http://schemas.microsoft.com/office/drawing/2014/main" id="{AE4330F4-EC59-7AD4-620A-97DC3AEA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8" y="5782467"/>
            <a:ext cx="2770909" cy="291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Microsoft YaHei"/>
                <a:ea typeface="Microsoft YaHei"/>
                <a:cs typeface="Microsoft YaHei"/>
              </a:rPr>
              <a:t>Process Mission</a:t>
            </a:r>
            <a:endParaRPr sz="14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9">
            <a:extLst xmlns:a="http://schemas.openxmlformats.org/drawingml/2006/main">
              <a:ext uri="{FF2B5EF4-FFF2-40B4-BE49-F238E27FC236}">
                <a16:creationId xmlns:a16="http://schemas.microsoft.com/office/drawing/2014/main" id="{E083AA1E-93BE-DC27-4730-E74FD647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8" y="6117715"/>
            <a:ext cx="1312535" cy="1749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rgbClr val="6F6F6F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F017A44-8AB9-069D-1392-B93A4F04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81150"/>
            <a:ext cx="5466080" cy="982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拓展 Zephyr 的 POSIX、模拟与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虚拟化能力边界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0372135-36FA-E23C-80A1-6A1F0287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71775"/>
            <a:ext cx="8239125" cy="655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spcAft>
                <a:spcPts val="1200"/>
              </a:spcAft>
              <a:buNone/>
              <a:defRPr sz="13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QEMU on Zephyr: Extending the Boundaries of</a:t>
            </a:r>
            <a:endParaRPr sz="2400"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spcAft>
                <a:spcPts val="1200"/>
              </a:spcAft>
              <a:buNone/>
              <a:defRPr sz="13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POSIX, Simulation and Virtualization</a:t>
            </a:r>
          </a:p>
        </p:txBody>
      </p:sp>
      <p:sp>
        <p:nvSpPr>
          <p:cNvPr id="8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3657FD75-011D-4816-B982-CC9D968C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39168" y="4228618"/>
            <a:ext cx="16571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9" name="图片 8">
            <a:extLst xmlns:a="http://schemas.openxmlformats.org/drawingml/2006/main">
              <a:ext uri="{FF2B5EF4-FFF2-40B4-BE49-F238E27FC236}">
                <a16:creationId xmlns:a16="http://schemas.microsoft.com/office/drawing/2014/main" id="{D4748478-B089-4AB7-BD65-4A135F763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90943aea6400a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117" y="314546"/>
            <a:ext cx="4857007" cy="932176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D1304A-37FE-73E8-FA14-A4F74AE5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65019" cy="113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角三角形 10">
            <a:extLst xmlns:a="http://schemas.openxmlformats.org/drawingml/2006/main">
              <a:ext uri="{FF2B5EF4-FFF2-40B4-BE49-F238E27FC236}">
                <a16:creationId xmlns:a16="http://schemas.microsoft.com/office/drawing/2014/main" id="{2C455551-F23D-E5C9-D132-E0A73F27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65019" y="0"/>
            <a:ext cx="188758" cy="11328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speaker-roles">
            <a:extLst xmlns:a="http://schemas.openxmlformats.org/drawingml/2006/main">
              <a:ext uri="{FF2B5EF4-FFF2-40B4-BE49-F238E27FC236}">
                <a16:creationId xmlns:a16="http://schemas.microsoft.com/office/drawing/2014/main" id="{CEF0BCD8-42AB-4500-A640-E8206748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24400"/>
            <a:ext cx="823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Senior Software Engineer  |  QEMU Maintainer  |  Zephyr/Linux Contributor</a:t>
            </a:r>
          </a:p>
        </p:txBody>
      </p:sp>
    </p:spTree>
    <p:extLst>
      <p:ext uri="{BB962C8B-B14F-4D97-AF65-F5344CB8AC3E}">
        <p14:creationId xmlns:p14="http://schemas.microsoft.com/office/powerpoint/2010/main" val="23062610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3A7554-7348-413A-81DF-5F80BD1B229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96000" y="2676525"/>
            <a:ext cx="291465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F3C81D-D56F-458C-B1BF-E1F4C3A1ADC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3181350" y="2676525"/>
            <a:ext cx="291465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D00AABA-2E60-1B05-13D1-49FE9035E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实现目标</a:t>
            </a:r>
            <a:endParaRPr/>
          </a:p>
        </p:txBody>
      </p:sp>
      <p:sp>
        <p:nvSpPr>
          <p:cNvPr id="3" name="motivation-statement">
            <a:extLst xmlns:a="http://schemas.openxmlformats.org/drawingml/2006/main">
              <a:ext uri="{FF2B5EF4-FFF2-40B4-BE49-F238E27FC236}">
                <a16:creationId xmlns:a16="http://schemas.microsoft.com/office/drawing/2014/main" id="{BFE948EB-5B46-4160-B3A5-9AD3898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39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移植 QEMU，评估 Zephyr 的 POSIX 支持，并运行 Linux 客机与应用</a:t>
            </a:r>
          </a:p>
        </p:txBody>
      </p:sp>
      <p:sp>
        <p:nvSpPr>
          <p:cNvPr id="4" name="qemu-foundation">
            <a:extLst xmlns:a="http://schemas.openxmlformats.org/drawingml/2006/main">
              <a:ext uri="{FF2B5EF4-FFF2-40B4-BE49-F238E27FC236}">
                <a16:creationId xmlns:a16="http://schemas.microsoft.com/office/drawing/2014/main" id="{6F8BAE54-9C41-4BBF-BD64-B343952D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952625"/>
            <a:ext cx="3981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270A"/>
          </a:solidFill>
          <a:ln xmlns:a="http://schemas.openxmlformats.org/drawingml/2006/main" w="9525">
            <a:solidFill>
              <a:srgbClr val="B1270A"/>
            </a:solidFill>
            <a:prstDash val="solid"/>
          </a:ln>
        </p:spPr>
      </p:sp>
      <p:sp>
        <p:nvSpPr>
          <p:cNvPr id="5" name="icon-cpu-body">
            <a:extLst xmlns:a="http://schemas.openxmlformats.org/drawingml/2006/main">
              <a:ext uri="{FF2B5EF4-FFF2-40B4-BE49-F238E27FC236}">
                <a16:creationId xmlns:a16="http://schemas.microsoft.com/office/drawing/2014/main" id="{65EF5D47-E58D-4EF9-A7BF-80FB2A19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220" y="2119884"/>
            <a:ext cx="328041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FFFFFF"/>
            </a:solidFill>
            <a:prstDash val="solid"/>
          </a:ln>
        </p:spPr>
      </p:sp>
      <p:sp>
        <p:nvSpPr>
          <p:cNvPr id="6" name="icon-cpu-core">
            <a:extLst xmlns:a="http://schemas.openxmlformats.org/drawingml/2006/main">
              <a:ext uri="{FF2B5EF4-FFF2-40B4-BE49-F238E27FC236}">
                <a16:creationId xmlns:a16="http://schemas.microsoft.com/office/drawing/2014/main" id="{C08BDA25-3D96-433C-AD16-9DBDB18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135" y="2190179"/>
            <a:ext cx="156210" cy="140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E2"/>
          </a:solidFill>
          <a:ln xmlns:a="http://schemas.openxmlformats.org/drawingml/2006/main" w="15621">
            <a:solidFill>
              <a:srgbClr val="FFFFFF"/>
            </a:solidFill>
            <a:prstDash val="solid"/>
          </a:ln>
        </p:spPr>
      </p:sp>
      <p:sp>
        <p:nvSpPr>
          <p:cNvPr id="7" name="icon-cpu-top-16">
            <a:extLst xmlns:a="http://schemas.openxmlformats.org/drawingml/2006/main">
              <a:ext uri="{FF2B5EF4-FFF2-40B4-BE49-F238E27FC236}">
                <a16:creationId xmlns:a16="http://schemas.microsoft.com/office/drawing/2014/main" id="{429CAABD-4F03-4827-9CD9-27B8A761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77893" y="2065211"/>
            <a:ext cx="0" cy="54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8" name="icon-cpu-bottom-16">
            <a:extLst xmlns:a="http://schemas.openxmlformats.org/drawingml/2006/main">
              <a:ext uri="{FF2B5EF4-FFF2-40B4-BE49-F238E27FC236}">
                <a16:creationId xmlns:a16="http://schemas.microsoft.com/office/drawing/2014/main" id="{A16E31EC-89A9-4611-9C4A-5B94EDE9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77893" y="2401062"/>
            <a:ext cx="0" cy="54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9" name="icon-cpu-left-16">
            <a:extLst xmlns:a="http://schemas.openxmlformats.org/drawingml/2006/main">
              <a:ext uri="{FF2B5EF4-FFF2-40B4-BE49-F238E27FC236}">
                <a16:creationId xmlns:a16="http://schemas.microsoft.com/office/drawing/2014/main" id="{D6D16C6D-43CB-49E4-B0D5-D786CD14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68546" y="2119884"/>
            <a:ext cx="54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0" name="icon-cpu-right-16">
            <a:extLst xmlns:a="http://schemas.openxmlformats.org/drawingml/2006/main">
              <a:ext uri="{FF2B5EF4-FFF2-40B4-BE49-F238E27FC236}">
                <a16:creationId xmlns:a16="http://schemas.microsoft.com/office/drawing/2014/main" id="{048E9505-F944-4FA4-92C1-E77EBEAB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51261" y="2119884"/>
            <a:ext cx="54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1" name="icon-cpu-top-27">
            <a:extLst xmlns:a="http://schemas.openxmlformats.org/drawingml/2006/main">
              <a:ext uri="{FF2B5EF4-FFF2-40B4-BE49-F238E27FC236}">
                <a16:creationId xmlns:a16="http://schemas.microsoft.com/office/drawing/2014/main" id="{E7322F52-191E-4861-8B37-07D54CED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63809" y="2065211"/>
            <a:ext cx="0" cy="54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2" name="icon-cpu-bottom-27">
            <a:extLst xmlns:a="http://schemas.openxmlformats.org/drawingml/2006/main">
              <a:ext uri="{FF2B5EF4-FFF2-40B4-BE49-F238E27FC236}">
                <a16:creationId xmlns:a16="http://schemas.microsoft.com/office/drawing/2014/main" id="{1C79C47A-88D7-4638-855E-1DC5779B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63809" y="2401062"/>
            <a:ext cx="0" cy="54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3" name="icon-cpu-left-27">
            <a:extLst xmlns:a="http://schemas.openxmlformats.org/drawingml/2006/main">
              <a:ext uri="{FF2B5EF4-FFF2-40B4-BE49-F238E27FC236}">
                <a16:creationId xmlns:a16="http://schemas.microsoft.com/office/drawing/2014/main" id="{105BF6EE-2C4D-4B4C-A65E-CBED7D56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68546" y="2205800"/>
            <a:ext cx="54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4" name="icon-cpu-right-27">
            <a:extLst xmlns:a="http://schemas.openxmlformats.org/drawingml/2006/main">
              <a:ext uri="{FF2B5EF4-FFF2-40B4-BE49-F238E27FC236}">
                <a16:creationId xmlns:a16="http://schemas.microsoft.com/office/drawing/2014/main" id="{1387E076-A4B4-4F91-A5CB-D509EE37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51261" y="2205800"/>
            <a:ext cx="54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5" name="icon-cpu-top-38">
            <a:extLst xmlns:a="http://schemas.openxmlformats.org/drawingml/2006/main">
              <a:ext uri="{FF2B5EF4-FFF2-40B4-BE49-F238E27FC236}">
                <a16:creationId xmlns:a16="http://schemas.microsoft.com/office/drawing/2014/main" id="{D6210F74-F67E-4CF4-BBA0-D0674EA5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49724" y="2065211"/>
            <a:ext cx="0" cy="54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6" name="icon-cpu-bottom-38">
            <a:extLst xmlns:a="http://schemas.openxmlformats.org/drawingml/2006/main">
              <a:ext uri="{FF2B5EF4-FFF2-40B4-BE49-F238E27FC236}">
                <a16:creationId xmlns:a16="http://schemas.microsoft.com/office/drawing/2014/main" id="{BFFD01C8-85C9-4049-8BF4-2EA20AE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49724" y="2401062"/>
            <a:ext cx="0" cy="54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7" name="icon-cpu-left-38">
            <a:extLst xmlns:a="http://schemas.openxmlformats.org/drawingml/2006/main">
              <a:ext uri="{FF2B5EF4-FFF2-40B4-BE49-F238E27FC236}">
                <a16:creationId xmlns:a16="http://schemas.microsoft.com/office/drawing/2014/main" id="{20449860-C187-46FE-8FD5-3C0F9DE5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68546" y="2291715"/>
            <a:ext cx="54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8" name="icon-cpu-right-38">
            <a:extLst xmlns:a="http://schemas.openxmlformats.org/drawingml/2006/main">
              <a:ext uri="{FF2B5EF4-FFF2-40B4-BE49-F238E27FC236}">
                <a16:creationId xmlns:a16="http://schemas.microsoft.com/office/drawing/2014/main" id="{DB5AC271-06A6-4E47-9D6D-E945ECFF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51261" y="2291715"/>
            <a:ext cx="54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FFFFFF"/>
            </a:solidFill>
            <a:prstDash val="solid"/>
          </a:ln>
        </p:spPr>
      </p:sp>
      <p:sp>
        <p:nvSpPr>
          <p:cNvPr id="19" name="foundation-label">
            <a:extLst xmlns:a="http://schemas.openxmlformats.org/drawingml/2006/main">
              <a:ext uri="{FF2B5EF4-FFF2-40B4-BE49-F238E27FC236}">
                <a16:creationId xmlns:a16="http://schemas.microsoft.com/office/drawing/2014/main" id="{3876796E-EE65-4A1F-9AAE-16F0CC0A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028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QEMU on Zephyr</a:t>
            </a:r>
          </a:p>
        </p:txBody>
      </p:sp>
      <p:sp>
        <p:nvSpPr>
          <p:cNvPr id="20" name="foundation-detail">
            <a:extLst xmlns:a="http://schemas.openxmlformats.org/drawingml/2006/main">
              <a:ext uri="{FF2B5EF4-FFF2-40B4-BE49-F238E27FC236}">
                <a16:creationId xmlns:a16="http://schemas.microsoft.com/office/drawing/2014/main" id="{A92EAB13-7CB3-467C-BC50-EE622E14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3431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POSIX  ·  TCG  ·  设备模型  ·  EL2</a:t>
            </a:r>
          </a:p>
        </p:txBody>
      </p:sp>
      <p:sp>
        <p:nvSpPr>
          <p:cNvPr id="21" name="type1-scenario">
            <a:extLst xmlns:a="http://schemas.openxmlformats.org/drawingml/2006/main">
              <a:ext uri="{FF2B5EF4-FFF2-40B4-BE49-F238E27FC236}">
                <a16:creationId xmlns:a16="http://schemas.microsoft.com/office/drawing/2014/main" id="{E354848C-A06A-4316-9DAE-1B135243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0673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22" name="legacy-scenario">
            <a:extLst xmlns:a="http://schemas.openxmlformats.org/drawingml/2006/main">
              <a:ext uri="{FF2B5EF4-FFF2-40B4-BE49-F238E27FC236}">
                <a16:creationId xmlns:a16="http://schemas.microsoft.com/office/drawing/2014/main" id="{C7AB775F-CE26-4349-97B6-C15AFE46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50673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23" name="icon-lock-body">
            <a:extLst xmlns:a="http://schemas.openxmlformats.org/drawingml/2006/main">
              <a:ext uri="{FF2B5EF4-FFF2-40B4-BE49-F238E27FC236}">
                <a16:creationId xmlns:a16="http://schemas.microsoft.com/office/drawing/2014/main" id="{F0151E52-F153-4F44-A2DF-5384E02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9" y="3967639"/>
            <a:ext cx="35623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1270A"/>
            </a:solidFill>
            <a:prstDash val="solid"/>
          </a:ln>
        </p:spPr>
      </p:sp>
      <p:sp>
        <p:nvSpPr>
          <p:cNvPr id="24" name="icon-lock-arch">
            <a:extLst xmlns:a="http://schemas.openxmlformats.org/drawingml/2006/main">
              <a:ext uri="{FF2B5EF4-FFF2-40B4-BE49-F238E27FC236}">
                <a16:creationId xmlns:a16="http://schemas.microsoft.com/office/drawing/2014/main" id="{D0D51763-5B41-4091-9F32-522B01A6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" y="3813810"/>
            <a:ext cx="210502" cy="25908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1270A"/>
            </a:solidFill>
            <a:prstDash val="solid"/>
          </a:ln>
        </p:spPr>
      </p:sp>
      <p:sp>
        <p:nvSpPr>
          <p:cNvPr id="25" name="icon-lock-key">
            <a:extLst xmlns:a="http://schemas.openxmlformats.org/drawingml/2006/main">
              <a:ext uri="{FF2B5EF4-FFF2-40B4-BE49-F238E27FC236}">
                <a16:creationId xmlns:a16="http://schemas.microsoft.com/office/drawing/2014/main" id="{BB5AB92F-1A39-4EE2-A7BB-07A8E382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" y="404050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270A"/>
          </a:solidFill>
          <a:ln xmlns:a="http://schemas.openxmlformats.org/drawingml/2006/main" w="16193">
            <a:solidFill>
              <a:srgbClr val="B1270A"/>
            </a:solidFill>
            <a:prstDash val="solid"/>
          </a:ln>
        </p:spPr>
      </p:sp>
      <p:sp>
        <p:nvSpPr>
          <p:cNvPr id="26" name="icon-lock-stem">
            <a:extLst xmlns:a="http://schemas.openxmlformats.org/drawingml/2006/main">
              <a:ext uri="{FF2B5EF4-FFF2-40B4-BE49-F238E27FC236}">
                <a16:creationId xmlns:a16="http://schemas.microsoft.com/office/drawing/2014/main" id="{DF5B3EB2-BE53-4AEA-AE5F-F87199B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9666" y="4097179"/>
            <a:ext cx="0" cy="4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241">
            <a:solidFill>
              <a:srgbClr val="B1270A"/>
            </a:solidFill>
            <a:prstDash val="solid"/>
          </a:ln>
        </p:spPr>
      </p:sp>
      <p:sp>
        <p:nvSpPr>
          <p:cNvPr id="27" name="type1-title">
            <a:extLst xmlns:a="http://schemas.openxmlformats.org/drawingml/2006/main">
              <a:ext uri="{FF2B5EF4-FFF2-40B4-BE49-F238E27FC236}">
                <a16:creationId xmlns:a16="http://schemas.microsoft.com/office/drawing/2014/main" id="{CC07580B-54BF-4C44-9021-CE992BED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09975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Type-1 Hypervisor</a:t>
            </a:r>
          </a:p>
        </p:txBody>
      </p:sp>
      <p:sp>
        <p:nvSpPr>
          <p:cNvPr id="28" name="type1-detail">
            <a:extLst xmlns:a="http://schemas.openxmlformats.org/drawingml/2006/main">
              <a:ext uri="{FF2B5EF4-FFF2-40B4-BE49-F238E27FC236}">
                <a16:creationId xmlns:a16="http://schemas.microsoft.com/office/drawing/2014/main" id="{58405EE0-93CF-49A8-BADA-E1999E23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29075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Zephyr 在 EL2 承载 Linux 客机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复用 QEMU 丰富的硬件模型与工具生态</a:t>
            </a:r>
          </a:p>
        </p:txBody>
      </p:sp>
      <p:sp>
        <p:nvSpPr>
          <p:cNvPr id="29" name="type1-foot">
            <a:extLst xmlns:a="http://schemas.openxmlformats.org/drawingml/2006/main">
              <a:ext uri="{FF2B5EF4-FFF2-40B4-BE49-F238E27FC236}">
                <a16:creationId xmlns:a16="http://schemas.microsoft.com/office/drawing/2014/main" id="{47F374C4-B614-4BF0-ACD3-347BD46B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95825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基础：POSIX · 客体执行器 · syscall adapter</a:t>
            </a:r>
          </a:p>
        </p:txBody>
      </p:sp>
      <p:sp>
        <p:nvSpPr>
          <p:cNvPr id="30" name="icon-device-main">
            <a:extLst xmlns:a="http://schemas.openxmlformats.org/drawingml/2006/main">
              <a:ext uri="{FF2B5EF4-FFF2-40B4-BE49-F238E27FC236}">
                <a16:creationId xmlns:a16="http://schemas.microsoft.com/office/drawing/2014/main" id="{8169C973-3ED6-4042-B38C-99E59965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374" y="3830003"/>
            <a:ext cx="35623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1270A"/>
            </a:solidFill>
            <a:prstDash val="solid"/>
          </a:ln>
        </p:spPr>
      </p:sp>
      <p:sp>
        <p:nvSpPr>
          <p:cNvPr id="31" name="icon-device-foot-a">
            <a:extLst xmlns:a="http://schemas.openxmlformats.org/drawingml/2006/main">
              <a:ext uri="{FF2B5EF4-FFF2-40B4-BE49-F238E27FC236}">
                <a16:creationId xmlns:a16="http://schemas.microsoft.com/office/drawing/2014/main" id="{58F4C0A6-BBD3-44B0-95AD-BA54E09F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89433" y="4137660"/>
            <a:ext cx="1781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241">
            <a:solidFill>
              <a:srgbClr val="B1270A"/>
            </a:solidFill>
            <a:prstDash val="solid"/>
          </a:ln>
        </p:spPr>
      </p:sp>
      <p:sp>
        <p:nvSpPr>
          <p:cNvPr id="32" name="icon-device-foot-b">
            <a:extLst xmlns:a="http://schemas.openxmlformats.org/drawingml/2006/main">
              <a:ext uri="{FF2B5EF4-FFF2-40B4-BE49-F238E27FC236}">
                <a16:creationId xmlns:a16="http://schemas.microsoft.com/office/drawing/2014/main" id="{37CAC85E-80BC-44EA-BDB1-E4436DBF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78491" y="4089083"/>
            <a:ext cx="0" cy="48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241">
            <a:solidFill>
              <a:srgbClr val="B1270A"/>
            </a:solidFill>
            <a:prstDash val="solid"/>
          </a:ln>
        </p:spPr>
      </p:sp>
      <p:sp>
        <p:nvSpPr>
          <p:cNvPr id="33" name="icon-device-led-a">
            <a:extLst xmlns:a="http://schemas.openxmlformats.org/drawingml/2006/main">
              <a:ext uri="{FF2B5EF4-FFF2-40B4-BE49-F238E27FC236}">
                <a16:creationId xmlns:a16="http://schemas.microsoft.com/office/drawing/2014/main" id="{7C1F127B-B112-4256-943A-76E0ECA5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048" y="3886676"/>
            <a:ext cx="40481" cy="404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270A"/>
          </a:solidFill>
          <a:ln xmlns:a="http://schemas.openxmlformats.org/drawingml/2006/main" w="16193">
            <a:solidFill>
              <a:srgbClr val="B1270A"/>
            </a:solidFill>
            <a:prstDash val="solid"/>
          </a:ln>
        </p:spPr>
      </p:sp>
      <p:sp>
        <p:nvSpPr>
          <p:cNvPr id="34" name="icon-device-led-b">
            <a:extLst xmlns:a="http://schemas.openxmlformats.org/drawingml/2006/main">
              <a:ext uri="{FF2B5EF4-FFF2-40B4-BE49-F238E27FC236}">
                <a16:creationId xmlns:a16="http://schemas.microsoft.com/office/drawing/2014/main" id="{5B093074-8FCC-4DDC-98C0-C664E9AC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106" y="3886676"/>
            <a:ext cx="40481" cy="404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16193">
            <a:solidFill>
              <a:srgbClr val="B1270A"/>
            </a:solidFill>
            <a:prstDash val="solid"/>
          </a:ln>
        </p:spPr>
      </p:sp>
      <p:sp>
        <p:nvSpPr>
          <p:cNvPr id="35" name="legacy-title">
            <a:extLst xmlns:a="http://schemas.openxmlformats.org/drawingml/2006/main">
              <a:ext uri="{FF2B5EF4-FFF2-40B4-BE49-F238E27FC236}">
                <a16:creationId xmlns:a16="http://schemas.microsoft.com/office/drawing/2014/main" id="{5BA9F349-F868-4884-97FC-0B5B4FE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9975"/>
            <a:ext cx="3876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全系统仿真 / 用户态仿真</a:t>
            </a:r>
          </a:p>
        </p:txBody>
      </p:sp>
      <p:sp>
        <p:nvSpPr>
          <p:cNvPr id="36" name="legacy-detail">
            <a:extLst xmlns:a="http://schemas.openxmlformats.org/drawingml/2006/main">
              <a:ext uri="{FF2B5EF4-FFF2-40B4-BE49-F238E27FC236}">
                <a16:creationId xmlns:a16="http://schemas.microsoft.com/office/drawing/2014/main" id="{6BBB0AC8-1C77-4BDF-AD8A-633E070F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29075"/>
            <a:ext cx="3876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全系统仿真：复现旧平台软件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用户态仿真：兼容 Linux AArch64 ABI</a:t>
            </a:r>
          </a:p>
        </p:txBody>
      </p:sp>
      <p:sp>
        <p:nvSpPr>
          <p:cNvPr id="37" name="legacy-foot">
            <a:extLst xmlns:a="http://schemas.openxmlformats.org/drawingml/2006/main">
              <a:ext uri="{FF2B5EF4-FFF2-40B4-BE49-F238E27FC236}">
                <a16:creationId xmlns:a16="http://schemas.microsoft.com/office/drawing/2014/main" id="{4FDA4BC7-2C1C-451B-865B-6EC87228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95825"/>
            <a:ext cx="3876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硬件更新后继续运行面向旧平台构建的软件</a:t>
            </a:r>
          </a:p>
        </p:txBody>
      </p:sp>
      <p:sp>
        <p:nvSpPr>
          <p:cNvPr id="40" name="motivation-scope">
            <a:extLst xmlns:a="http://schemas.openxmlformats.org/drawingml/2006/main">
              <a:ext uri="{FF2B5EF4-FFF2-40B4-BE49-F238E27FC236}">
                <a16:creationId xmlns:a16="http://schemas.microsoft.com/office/drawing/2014/main" id="{524E1B22-5C0B-444A-921D-F6703763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性能与隔离能力需在目标硬件上验证</a:t>
            </a:r>
          </a:p>
        </p:txBody>
      </p:sp>
    </p:spTree>
    <p:extLst>
      <p:ext uri="{BB962C8B-B14F-4D97-AF65-F5344CB8AC3E}">
        <p14:creationId xmlns:p14="http://schemas.microsoft.com/office/powerpoint/2010/main" val="28096115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AE0C96B-54D1-2600-BA88-71DC0F4E4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Zephyr POSIX</a:t>
            </a:r>
            <a:endParaRPr/>
          </a:p>
        </p:txBody>
      </p:sp>
      <p:sp>
        <p:nvSpPr>
          <p:cNvPr id="3" name="catalog-heading">
            <a:extLst xmlns:a="http://schemas.openxmlformats.org/drawingml/2006/main">
              <a:ext uri="{FF2B5EF4-FFF2-40B4-BE49-F238E27FC236}">
                <a16:creationId xmlns:a16="http://schemas.microsoft.com/office/drawing/2014/main" id="{7E5A658F-E3BA-47E0-9E94-BD5B9E6D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Zephyr 文档目录</a:t>
            </a:r>
          </a:p>
        </p:txBody>
      </p:sp>
      <p:sp>
        <p:nvSpPr>
          <p:cNvPr id="4" name="catalog-count">
            <a:extLst xmlns:a="http://schemas.openxmlformats.org/drawingml/2006/main">
              <a:ext uri="{FF2B5EF4-FFF2-40B4-BE49-F238E27FC236}">
                <a16:creationId xmlns:a16="http://schemas.microsoft.com/office/drawing/2014/main" id="{36B603DD-9110-4B5F-907A-8E1F034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2877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393 个唯一接口</a:t>
            </a:r>
          </a:p>
        </p:txBody>
      </p:sp>
      <p:sp>
        <p:nvSpPr>
          <p:cNvPr id="5" name="audit-heading">
            <a:extLst xmlns:a="http://schemas.openxmlformats.org/drawingml/2006/main">
              <a:ext uri="{FF2B5EF4-FFF2-40B4-BE49-F238E27FC236}">
                <a16:creationId xmlns:a16="http://schemas.microsoft.com/office/drawing/2014/main" id="{F01FB8E6-B47B-4B93-8034-2C441C91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525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QEMU 使用的宿主 POSIX 接口</a:t>
            </a:r>
          </a:p>
        </p:txBody>
      </p:sp>
      <p:sp>
        <p:nvSpPr>
          <p:cNvPr id="6" name="audit-count">
            <a:extLst xmlns:a="http://schemas.openxmlformats.org/drawingml/2006/main">
              <a:ext uri="{FF2B5EF4-FFF2-40B4-BE49-F238E27FC236}">
                <a16:creationId xmlns:a16="http://schemas.microsoft.com/office/drawing/2014/main" id="{AB28E9E6-FB42-4DF4-9A6A-B1E4D722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2877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QEMU 依赖的 50 项接口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093A170-C784-4266-BB8A-E26F845D68C5}"/>
              </a:ext>
            </a:extLst>
          </p:cNvPr>
          <p:cNvGraphicFramePr/>
          <p:nvPr/>
        </p:nvGraphicFramePr>
        <p:xfrm>
          <a:off xmlns:a="http://schemas.openxmlformats.org/drawingml/2006/main" x="457200" y="1809750"/>
          <a:ext xmlns:a="http://schemas.openxmlformats.org/drawingml/2006/main" cx="2952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4f20fd84124581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C14C49EC-76C9-4FAF-B6F1-49617A8D2F38}"/>
              </a:ext>
            </a:extLst>
          </p:cNvPr>
          <p:cNvGraphicFramePr/>
          <p:nvPr/>
        </p:nvGraphicFramePr>
        <p:xfrm>
          <a:off xmlns:a="http://schemas.openxmlformats.org/drawingml/2006/main" x="6238875" y="1809750"/>
          <a:ext xmlns:a="http://schemas.openxmlformats.org/drawingml/2006/main" cx="2952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80169d3f7b467a"/>
          </a:graphicData>
        </a:graphic>
      </p:graphicFrame>
      <p:sp>
        <p:nvSpPr>
          <p:cNvPr id="9" name="catalog-yes-marker">
            <a:extLst xmlns:a="http://schemas.openxmlformats.org/drawingml/2006/main">
              <a:ext uri="{FF2B5EF4-FFF2-40B4-BE49-F238E27FC236}">
                <a16:creationId xmlns:a16="http://schemas.microsoft.com/office/drawing/2014/main" id="{46FDF0BF-C777-425B-B478-31290AAE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19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2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talog-yes-label">
            <a:extLst xmlns:a="http://schemas.openxmlformats.org/drawingml/2006/main">
              <a:ext uri="{FF2B5EF4-FFF2-40B4-BE49-F238E27FC236}">
                <a16:creationId xmlns:a16="http://schemas.microsoft.com/office/drawing/2014/main" id="{89A25FD3-730E-45EF-838A-4A9D9E9E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无条件标为 yes</a:t>
            </a:r>
          </a:p>
        </p:txBody>
      </p:sp>
      <p:sp>
        <p:nvSpPr>
          <p:cNvPr id="11" name="catalog-yes-value">
            <a:extLst xmlns:a="http://schemas.openxmlformats.org/drawingml/2006/main">
              <a:ext uri="{FF2B5EF4-FFF2-40B4-BE49-F238E27FC236}">
                <a16:creationId xmlns:a16="http://schemas.microsoft.com/office/drawing/2014/main" id="{F3A6A2BA-F2C1-4EE5-A059-396DC2DD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289（73.5%）</a:t>
            </a:r>
          </a:p>
        </p:txBody>
      </p:sp>
      <p:sp>
        <p:nvSpPr>
          <p:cNvPr id="12" name="catalog-qualified-marker">
            <a:extLst xmlns:a="http://schemas.openxmlformats.org/drawingml/2006/main">
              <a:ext uri="{FF2B5EF4-FFF2-40B4-BE49-F238E27FC236}">
                <a16:creationId xmlns:a16="http://schemas.microsoft.com/office/drawing/2014/main" id="{1AB5AB89-6986-4EE4-9940-A8ABED9F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00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talog-qualified-label">
            <a:extLst xmlns:a="http://schemas.openxmlformats.org/drawingml/2006/main">
              <a:ext uri="{FF2B5EF4-FFF2-40B4-BE49-F238E27FC236}">
                <a16:creationId xmlns:a16="http://schemas.microsoft.com/office/drawing/2014/main" id="{45E34704-E0F0-4E15-B982-94DA726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带条件或未定义行为</a:t>
            </a:r>
          </a:p>
        </p:txBody>
      </p:sp>
      <p:sp>
        <p:nvSpPr>
          <p:cNvPr id="14" name="catalog-qualified-value">
            <a:extLst xmlns:a="http://schemas.openxmlformats.org/drawingml/2006/main">
              <a:ext uri="{FF2B5EF4-FFF2-40B4-BE49-F238E27FC236}">
                <a16:creationId xmlns:a16="http://schemas.microsoft.com/office/drawing/2014/main" id="{8FA2D976-D2B0-43AF-BB1D-09CDE76F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908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53（13.5%）</a:t>
            </a:r>
          </a:p>
        </p:txBody>
      </p:sp>
      <p:sp>
        <p:nvSpPr>
          <p:cNvPr id="15" name="catalog-unmarked-marker">
            <a:extLst xmlns:a="http://schemas.openxmlformats.org/drawingml/2006/main">
              <a:ext uri="{FF2B5EF4-FFF2-40B4-BE49-F238E27FC236}">
                <a16:creationId xmlns:a16="http://schemas.microsoft.com/office/drawing/2014/main" id="{9A976481-533F-400E-8A98-2E09055E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81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talog-unmarked-label">
            <a:extLst xmlns:a="http://schemas.openxmlformats.org/drawingml/2006/main">
              <a:ext uri="{FF2B5EF4-FFF2-40B4-BE49-F238E27FC236}">
                <a16:creationId xmlns:a16="http://schemas.microsoft.com/office/drawing/2014/main" id="{F35EBF3B-176E-4BF1-8EDA-B446D18D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未标示</a:t>
            </a:r>
          </a:p>
        </p:txBody>
      </p:sp>
      <p:sp>
        <p:nvSpPr>
          <p:cNvPr id="17" name="catalog-unmarked-value">
            <a:extLst xmlns:a="http://schemas.openxmlformats.org/drawingml/2006/main">
              <a:ext uri="{FF2B5EF4-FFF2-40B4-BE49-F238E27FC236}">
                <a16:creationId xmlns:a16="http://schemas.microsoft.com/office/drawing/2014/main" id="{3A129CA2-49EC-4E1A-8F67-A796CE02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719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51（13.0%）</a:t>
            </a:r>
          </a:p>
        </p:txBody>
      </p:sp>
      <p:sp>
        <p:nvSpPr>
          <p:cNvPr id="18" name="audit-reused-marker">
            <a:extLst xmlns:a="http://schemas.openxmlformats.org/drawingml/2006/main">
              <a:ext uri="{FF2B5EF4-FFF2-40B4-BE49-F238E27FC236}">
                <a16:creationId xmlns:a16="http://schemas.microsoft.com/office/drawing/2014/main" id="{F2DAC84B-AF20-4D7F-AB58-6DDE48C1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0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2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udit-reused-label">
            <a:extLst xmlns:a="http://schemas.openxmlformats.org/drawingml/2006/main">
              <a:ext uri="{FF2B5EF4-FFF2-40B4-BE49-F238E27FC236}">
                <a16:creationId xmlns:a16="http://schemas.microsoft.com/office/drawing/2014/main" id="{E622532F-7B4F-43A2-88CA-1FB0676D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526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可直接复用 Zephyr POSIX</a:t>
            </a:r>
          </a:p>
        </p:txBody>
      </p:sp>
      <p:sp>
        <p:nvSpPr>
          <p:cNvPr id="20" name="audit-reused-value">
            <a:extLst xmlns:a="http://schemas.openxmlformats.org/drawingml/2006/main">
              <a:ext uri="{FF2B5EF4-FFF2-40B4-BE49-F238E27FC236}">
                <a16:creationId xmlns:a16="http://schemas.microsoft.com/office/drawing/2014/main" id="{D2BACAAD-6B17-4146-A2A5-B7B5C3FB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907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31（62.0%）</a:t>
            </a:r>
          </a:p>
        </p:txBody>
      </p:sp>
      <p:sp>
        <p:nvSpPr>
          <p:cNvPr id="21" name="audit-adapted-marker">
            <a:extLst xmlns:a="http://schemas.openxmlformats.org/drawingml/2006/main">
              <a:ext uri="{FF2B5EF4-FFF2-40B4-BE49-F238E27FC236}">
                <a16:creationId xmlns:a16="http://schemas.microsoft.com/office/drawing/2014/main" id="{8E2A97EF-571D-45AC-AC7D-94F4996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33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udit-adapted-label">
            <a:extLst xmlns:a="http://schemas.openxmlformats.org/drawingml/2006/main">
              <a:ext uri="{FF2B5EF4-FFF2-40B4-BE49-F238E27FC236}">
                <a16:creationId xmlns:a16="http://schemas.microsoft.com/office/drawing/2014/main" id="{E7A35F7A-328F-48FF-96EA-44CF79F7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需在 Zephyr 侧适配</a:t>
            </a:r>
          </a:p>
        </p:txBody>
      </p:sp>
      <p:sp>
        <p:nvSpPr>
          <p:cNvPr id="23" name="audit-adapted-value">
            <a:extLst xmlns:a="http://schemas.openxmlformats.org/drawingml/2006/main">
              <a:ext uri="{FF2B5EF4-FFF2-40B4-BE49-F238E27FC236}">
                <a16:creationId xmlns:a16="http://schemas.microsoft.com/office/drawing/2014/main" id="{4729F811-38BE-4321-AFD6-DDC9ADB2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242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8（16.0%）</a:t>
            </a:r>
          </a:p>
        </p:txBody>
      </p:sp>
      <p:sp>
        <p:nvSpPr>
          <p:cNvPr id="24" name="audit-limited-marker">
            <a:extLst xmlns:a="http://schemas.openxmlformats.org/drawingml/2006/main">
              <a:ext uri="{FF2B5EF4-FFF2-40B4-BE49-F238E27FC236}">
                <a16:creationId xmlns:a16="http://schemas.microsoft.com/office/drawing/2014/main" id="{8161A7F6-3EF4-42EA-A1FD-039EC149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udit-limited-label">
            <a:extLst xmlns:a="http://schemas.openxmlformats.org/drawingml/2006/main">
              <a:ext uri="{FF2B5EF4-FFF2-40B4-BE49-F238E27FC236}">
                <a16:creationId xmlns:a16="http://schemas.microsoft.com/office/drawing/2014/main" id="{D506FC6A-9238-4EFE-B43B-CC59CE48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受限或未支持</a:t>
            </a:r>
          </a:p>
        </p:txBody>
      </p:sp>
      <p:sp>
        <p:nvSpPr>
          <p:cNvPr id="26" name="audit-limited-value">
            <a:extLst xmlns:a="http://schemas.openxmlformats.org/drawingml/2006/main">
              <a:ext uri="{FF2B5EF4-FFF2-40B4-BE49-F238E27FC236}">
                <a16:creationId xmlns:a16="http://schemas.microsoft.com/office/drawing/2014/main" id="{83C43A99-8D5E-4262-9F3D-A6B8AEF7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576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11（22.0%）</a:t>
            </a:r>
          </a:p>
        </p:txBody>
      </p:sp>
      <p:sp>
        <p:nvSpPr>
          <p:cNvPr id="27" name="catalog-divider">
            <a:extLst xmlns:a="http://schemas.openxmlformats.org/drawingml/2006/main">
              <a:ext uri="{FF2B5EF4-FFF2-40B4-BE49-F238E27FC236}">
                <a16:creationId xmlns:a16="http://schemas.microsoft.com/office/drawing/2014/main" id="{2C4B83C5-C33B-48B8-B5A3-782C2EA3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00750" y="1428750"/>
            <a:ext cx="0" cy="357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28" name="catalog-note-rule">
            <a:extLst xmlns:a="http://schemas.openxmlformats.org/drawingml/2006/main">
              <a:ext uri="{FF2B5EF4-FFF2-40B4-BE49-F238E27FC236}">
                <a16:creationId xmlns:a16="http://schemas.microsoft.com/office/drawing/2014/main" id="{B6ED87D4-4B52-4453-A5E5-36AC5FBF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5300" y="5010150"/>
            <a:ext cx="1117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29" name="posix-conclusion">
            <a:extLst xmlns:a="http://schemas.openxmlformats.org/drawingml/2006/main">
              <a:ext uri="{FF2B5EF4-FFF2-40B4-BE49-F238E27FC236}">
                <a16:creationId xmlns:a16="http://schemas.microsoft.com/office/drawing/2014/main" id="{E43DA774-880F-4C58-92AF-6DD29F5E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Zephyr POSIX 接口能否使用，取决于配置、libc 和接口语义。</a:t>
            </a:r>
          </a:p>
        </p:txBody>
      </p:sp>
      <p:sp>
        <p:nvSpPr>
          <p:cNvPr id="30" name="posix-work-summary">
            <a:extLst xmlns:a="http://schemas.openxmlformats.org/drawingml/2006/main">
              <a:ext uri="{FF2B5EF4-FFF2-40B4-BE49-F238E27FC236}">
                <a16:creationId xmlns:a16="http://schemas.microsoft.com/office/drawing/2014/main" id="{A2081588-9C86-485B-AA54-BBCFE2F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QEMU 使用的接口中，31 项可复用，8 项需 Zephyr 侧适配。主要缺口是进程管理、信号控制和文件元数据。</a:t>
            </a:r>
          </a:p>
        </p:txBody>
      </p:sp>
    </p:spTree>
    <p:extLst>
      <p:ext uri="{BB962C8B-B14F-4D97-AF65-F5344CB8AC3E}">
        <p14:creationId xmlns:p14="http://schemas.microsoft.com/office/powerpoint/2010/main" val="4435645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4566B8-5FDC-45D1-9EFC-40EBE2BC715F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6096000" y="2352675"/>
            <a:ext cx="323850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A6A6A6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FD8144-A667-413E-913D-1C11BCF7CA0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857875" y="2352675"/>
            <a:ext cx="23812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A6A6A6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767299-F009-4A25-93C9-9E57357423D6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2381250" y="2352675"/>
            <a:ext cx="371475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A6A6A6"/>
            </a:solidFill>
            <a:prstDash val="solid"/>
            <a:tailEnd type="triangle" w="sm" len="sm"/>
          </a:ln>
        </p:spPr>
      </p:cxnSp>
      <p:sp>
        <p:nvSpPr>
          <p:cNvPr id="37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1"/>
            </a:lvl1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QEMU 模块依赖</a:t>
            </a:r>
          </a:p>
        </p:txBody>
      </p:sp>
      <p:sp>
        <p:nvSpPr>
          <p:cNvPr id="2" name="module-0">
            <a:extLst xmlns:a="http://schemas.openxmlformats.org/drawingml/2006/main">
              <a:ext uri="{FF2B5EF4-FFF2-40B4-BE49-F238E27FC236}">
                <a16:creationId xmlns:a16="http://schemas.microsoft.com/office/drawing/2014/main" id="{E0D1926F-3A27-4A1D-B464-87DFD66E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3" name="icon-layer-back">
            <a:extLst xmlns:a="http://schemas.openxmlformats.org/drawingml/2006/main">
              <a:ext uri="{FF2B5EF4-FFF2-40B4-BE49-F238E27FC236}">
                <a16:creationId xmlns:a16="http://schemas.microsoft.com/office/drawing/2014/main" id="{46F6CFA9-DCC7-4E79-ADAD-F498D62B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581" y="1644968"/>
            <a:ext cx="260795" cy="218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4097">
            <a:solidFill>
              <a:srgbClr val="B1270A"/>
            </a:solidFill>
            <a:prstDash val="solid"/>
          </a:ln>
        </p:spPr>
      </p:sp>
      <p:sp>
        <p:nvSpPr>
          <p:cNvPr id="4" name="icon-layer-front">
            <a:extLst xmlns:a="http://schemas.openxmlformats.org/drawingml/2006/main">
              <a:ext uri="{FF2B5EF4-FFF2-40B4-BE49-F238E27FC236}">
                <a16:creationId xmlns:a16="http://schemas.microsoft.com/office/drawing/2014/main" id="{1C5E54FA-B75D-4B79-B56D-44C31E23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3" y="1722501"/>
            <a:ext cx="260795" cy="218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097">
            <a:solidFill>
              <a:srgbClr val="B1270A"/>
            </a:solidFill>
            <a:prstDash val="solid"/>
          </a:ln>
        </p:spPr>
      </p:sp>
      <p:sp>
        <p:nvSpPr>
          <p:cNvPr id="5" name="icon-layer-row-a">
            <a:extLst xmlns:a="http://schemas.openxmlformats.org/drawingml/2006/main">
              <a:ext uri="{FF2B5EF4-FFF2-40B4-BE49-F238E27FC236}">
                <a16:creationId xmlns:a16="http://schemas.microsoft.com/office/drawing/2014/main" id="{B4418023-377F-4DEE-A9C1-D9BBCF28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08532" y="1792986"/>
            <a:ext cx="15506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6" name="icon-layer-row-b">
            <a:extLst xmlns:a="http://schemas.openxmlformats.org/drawingml/2006/main">
              <a:ext uri="{FF2B5EF4-FFF2-40B4-BE49-F238E27FC236}">
                <a16:creationId xmlns:a16="http://schemas.microsoft.com/office/drawing/2014/main" id="{558D15B8-0F0A-4F12-904D-BC86F4DA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08532" y="1849374"/>
            <a:ext cx="1268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7" name="module-title-0">
            <a:extLst xmlns:a="http://schemas.openxmlformats.org/drawingml/2006/main">
              <a:ext uri="{FF2B5EF4-FFF2-40B4-BE49-F238E27FC236}">
                <a16:creationId xmlns:a16="http://schemas.microsoft.com/office/drawing/2014/main" id="{D82241F3-BAC8-41FC-894E-54F29638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525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QOM / qdev</a:t>
            </a:r>
          </a:p>
        </p:txBody>
      </p:sp>
      <p:sp>
        <p:nvSpPr>
          <p:cNvPr id="8" name="module-detail-0">
            <a:extLst xmlns:a="http://schemas.openxmlformats.org/drawingml/2006/main">
              <a:ext uri="{FF2B5EF4-FFF2-40B4-BE49-F238E27FC236}">
                <a16:creationId xmlns:a16="http://schemas.microsoft.com/office/drawing/2014/main" id="{F995E16B-3A02-4C75-842A-CBC9D511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954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对象、属性与设备生命周期</a:t>
            </a:r>
          </a:p>
        </p:txBody>
      </p:sp>
      <p:sp>
        <p:nvSpPr>
          <p:cNvPr id="9" name="module-1">
            <a:extLst xmlns:a="http://schemas.openxmlformats.org/drawingml/2006/main">
              <a:ext uri="{FF2B5EF4-FFF2-40B4-BE49-F238E27FC236}">
                <a16:creationId xmlns:a16="http://schemas.microsoft.com/office/drawing/2014/main" id="{200A4BE6-46AF-4721-9774-4DD40EAB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382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10" name="icon-code-text">
            <a:extLst xmlns:a="http://schemas.openxmlformats.org/drawingml/2006/main">
              <a:ext uri="{FF2B5EF4-FFF2-40B4-BE49-F238E27FC236}">
                <a16:creationId xmlns:a16="http://schemas.microsoft.com/office/drawing/2014/main" id="{61B77D68-6177-46C4-BFBE-E9AB47B4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44968"/>
            <a:ext cx="437007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6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66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6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&lt;/&gt;</a:t>
            </a:r>
          </a:p>
        </p:txBody>
      </p:sp>
      <p:sp>
        <p:nvSpPr>
          <p:cNvPr id="11" name="module-title-1">
            <a:extLst xmlns:a="http://schemas.openxmlformats.org/drawingml/2006/main">
              <a:ext uri="{FF2B5EF4-FFF2-40B4-BE49-F238E27FC236}">
                <a16:creationId xmlns:a16="http://schemas.microsoft.com/office/drawing/2014/main" id="{2B94333E-D96E-412D-9556-7BD5AAB8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525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TCG</a:t>
            </a:r>
          </a:p>
        </p:txBody>
      </p:sp>
      <p:sp>
        <p:nvSpPr>
          <p:cNvPr id="12" name="module-detail-1">
            <a:extLst xmlns:a="http://schemas.openxmlformats.org/drawingml/2006/main">
              <a:ext uri="{FF2B5EF4-FFF2-40B4-BE49-F238E27FC236}">
                <a16:creationId xmlns:a16="http://schemas.microsoft.com/office/drawing/2014/main" id="{FFEA2803-5A00-4BFE-AECF-A53E2559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954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客户机指令翻译与代码缓存</a:t>
            </a:r>
          </a:p>
        </p:txBody>
      </p:sp>
      <p:sp>
        <p:nvSpPr>
          <p:cNvPr id="13" name="module-2">
            <a:extLst xmlns:a="http://schemas.openxmlformats.org/drawingml/2006/main">
              <a:ext uri="{FF2B5EF4-FFF2-40B4-BE49-F238E27FC236}">
                <a16:creationId xmlns:a16="http://schemas.microsoft.com/office/drawing/2014/main" id="{19780225-BEFB-4495-AB26-D978CB99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382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14" name="icon-cpu-body">
            <a:extLst xmlns:a="http://schemas.openxmlformats.org/drawingml/2006/main">
              <a:ext uri="{FF2B5EF4-FFF2-40B4-BE49-F238E27FC236}">
                <a16:creationId xmlns:a16="http://schemas.microsoft.com/office/drawing/2014/main" id="{5C44834C-B7A4-4D0A-AFC5-BB0E70DF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37" y="1666113"/>
            <a:ext cx="296037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097">
            <a:solidFill>
              <a:srgbClr val="B1270A"/>
            </a:solidFill>
            <a:prstDash val="solid"/>
          </a:ln>
        </p:spPr>
      </p:sp>
      <p:sp>
        <p:nvSpPr>
          <p:cNvPr id="15" name="icon-cpu-core">
            <a:extLst xmlns:a="http://schemas.openxmlformats.org/drawingml/2006/main">
              <a:ext uri="{FF2B5EF4-FFF2-40B4-BE49-F238E27FC236}">
                <a16:creationId xmlns:a16="http://schemas.microsoft.com/office/drawing/2014/main" id="{35BD3192-EC29-4E91-8237-779992F3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70" y="1729550"/>
            <a:ext cx="140970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E2"/>
          </a:solidFill>
          <a:ln xmlns:a="http://schemas.openxmlformats.org/drawingml/2006/main" w="14097">
            <a:solidFill>
              <a:srgbClr val="B1270A"/>
            </a:solidFill>
            <a:prstDash val="solid"/>
          </a:ln>
        </p:spPr>
      </p:sp>
      <p:sp>
        <p:nvSpPr>
          <p:cNvPr id="16" name="icon-cpu-top-16">
            <a:extLst xmlns:a="http://schemas.openxmlformats.org/drawingml/2006/main">
              <a:ext uri="{FF2B5EF4-FFF2-40B4-BE49-F238E27FC236}">
                <a16:creationId xmlns:a16="http://schemas.microsoft.com/office/drawing/2014/main" id="{E23D89AC-5F99-448F-BBFF-836F1956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89976" y="1616774"/>
            <a:ext cx="0" cy="49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17" name="icon-cpu-bottom-16">
            <a:extLst xmlns:a="http://schemas.openxmlformats.org/drawingml/2006/main">
              <a:ext uri="{FF2B5EF4-FFF2-40B4-BE49-F238E27FC236}">
                <a16:creationId xmlns:a16="http://schemas.microsoft.com/office/drawing/2014/main" id="{B8717EDB-DFC6-43C2-9667-50731D8F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89976" y="1919859"/>
            <a:ext cx="0" cy="49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18" name="icon-cpu-left-16">
            <a:extLst xmlns:a="http://schemas.openxmlformats.org/drawingml/2006/main">
              <a:ext uri="{FF2B5EF4-FFF2-40B4-BE49-F238E27FC236}">
                <a16:creationId xmlns:a16="http://schemas.microsoft.com/office/drawing/2014/main" id="{88A70ED1-6F2C-400A-AB8B-41503A54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91297" y="1666113"/>
            <a:ext cx="49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19" name="icon-cpu-right-16">
            <a:extLst xmlns:a="http://schemas.openxmlformats.org/drawingml/2006/main">
              <a:ext uri="{FF2B5EF4-FFF2-40B4-BE49-F238E27FC236}">
                <a16:creationId xmlns:a16="http://schemas.microsoft.com/office/drawing/2014/main" id="{150FD685-D5F4-4534-903D-FD69ADDF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36674" y="1666113"/>
            <a:ext cx="49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20" name="icon-cpu-top-27">
            <a:extLst xmlns:a="http://schemas.openxmlformats.org/drawingml/2006/main">
              <a:ext uri="{FF2B5EF4-FFF2-40B4-BE49-F238E27FC236}">
                <a16:creationId xmlns:a16="http://schemas.microsoft.com/office/drawing/2014/main" id="{A1D08186-D3A6-4A73-90A8-E1B292FD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67510" y="1616774"/>
            <a:ext cx="0" cy="49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21" name="icon-cpu-bottom-27">
            <a:extLst xmlns:a="http://schemas.openxmlformats.org/drawingml/2006/main">
              <a:ext uri="{FF2B5EF4-FFF2-40B4-BE49-F238E27FC236}">
                <a16:creationId xmlns:a16="http://schemas.microsoft.com/office/drawing/2014/main" id="{A49D8033-859F-47C2-A60B-849E0E5B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67510" y="1919859"/>
            <a:ext cx="0" cy="49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22" name="icon-cpu-left-27">
            <a:extLst xmlns:a="http://schemas.openxmlformats.org/drawingml/2006/main">
              <a:ext uri="{FF2B5EF4-FFF2-40B4-BE49-F238E27FC236}">
                <a16:creationId xmlns:a16="http://schemas.microsoft.com/office/drawing/2014/main" id="{455A8E28-1650-454E-9E54-44C9587C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91297" y="1743647"/>
            <a:ext cx="49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23" name="icon-cpu-right-27">
            <a:extLst xmlns:a="http://schemas.openxmlformats.org/drawingml/2006/main">
              <a:ext uri="{FF2B5EF4-FFF2-40B4-BE49-F238E27FC236}">
                <a16:creationId xmlns:a16="http://schemas.microsoft.com/office/drawing/2014/main" id="{29CC3E87-5485-4B25-A084-EC3F426B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36674" y="1743647"/>
            <a:ext cx="49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24" name="icon-cpu-top-38">
            <a:extLst xmlns:a="http://schemas.openxmlformats.org/drawingml/2006/main">
              <a:ext uri="{FF2B5EF4-FFF2-40B4-BE49-F238E27FC236}">
                <a16:creationId xmlns:a16="http://schemas.microsoft.com/office/drawing/2014/main" id="{0AA58610-0FCA-4AD2-B3BD-9CED0846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45043" y="1616774"/>
            <a:ext cx="0" cy="49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25" name="icon-cpu-bottom-38">
            <a:extLst xmlns:a="http://schemas.openxmlformats.org/drawingml/2006/main">
              <a:ext uri="{FF2B5EF4-FFF2-40B4-BE49-F238E27FC236}">
                <a16:creationId xmlns:a16="http://schemas.microsoft.com/office/drawing/2014/main" id="{B5F76CBE-6C5B-438C-BDA2-DFF24458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45043" y="1919859"/>
            <a:ext cx="0" cy="49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26" name="icon-cpu-left-38">
            <a:extLst xmlns:a="http://schemas.openxmlformats.org/drawingml/2006/main">
              <a:ext uri="{FF2B5EF4-FFF2-40B4-BE49-F238E27FC236}">
                <a16:creationId xmlns:a16="http://schemas.microsoft.com/office/drawing/2014/main" id="{D1E1AB64-4B0F-4FC1-A301-B7A18759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91297" y="1821180"/>
            <a:ext cx="49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27" name="icon-cpu-right-38">
            <a:extLst xmlns:a="http://schemas.openxmlformats.org/drawingml/2006/main">
              <a:ext uri="{FF2B5EF4-FFF2-40B4-BE49-F238E27FC236}">
                <a16:creationId xmlns:a16="http://schemas.microsoft.com/office/drawing/2014/main" id="{97D6157C-8000-473F-A731-979B0568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36674" y="1821180"/>
            <a:ext cx="49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21">
            <a:solidFill>
              <a:srgbClr val="B1270A"/>
            </a:solidFill>
            <a:prstDash val="solid"/>
          </a:ln>
        </p:spPr>
      </p:sp>
      <p:sp>
        <p:nvSpPr>
          <p:cNvPr id="28" name="module-title-2">
            <a:extLst xmlns:a="http://schemas.openxmlformats.org/drawingml/2006/main">
              <a:ext uri="{FF2B5EF4-FFF2-40B4-BE49-F238E27FC236}">
                <a16:creationId xmlns:a16="http://schemas.microsoft.com/office/drawing/2014/main" id="{2620EDBE-9208-42A5-ADF4-A19DB7E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525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CPU / 设备模型</a:t>
            </a:r>
          </a:p>
        </p:txBody>
      </p:sp>
      <p:sp>
        <p:nvSpPr>
          <p:cNvPr id="29" name="module-detail-2">
            <a:extLst xmlns:a="http://schemas.openxmlformats.org/drawingml/2006/main">
              <a:ext uri="{FF2B5EF4-FFF2-40B4-BE49-F238E27FC236}">
                <a16:creationId xmlns:a16="http://schemas.microsoft.com/office/drawing/2014/main" id="{5F937023-DB95-411A-93BE-5A5CE0E4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954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ARM、PL011、GICv3</a:t>
            </a:r>
          </a:p>
        </p:txBody>
      </p:sp>
      <p:sp>
        <p:nvSpPr>
          <p:cNvPr id="30" name="host-abstraction">
            <a:extLst xmlns:a="http://schemas.openxmlformats.org/drawingml/2006/main">
              <a:ext uri="{FF2B5EF4-FFF2-40B4-BE49-F238E27FC236}">
                <a16:creationId xmlns:a16="http://schemas.microsoft.com/office/drawing/2014/main" id="{C8E270D6-7E29-4D50-A840-374640EB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86050"/>
            <a:ext cx="8267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8"/>
          </a:solidFill>
          <a:ln xmlns:a="http://schemas.openxmlformats.org/drawingml/2006/main" w="17145">
            <a:solidFill>
              <a:srgbClr val="B1270A"/>
            </a:solidFill>
            <a:prstDash val="solid"/>
          </a:ln>
        </p:spPr>
      </p:sp>
      <p:sp>
        <p:nvSpPr>
          <p:cNvPr id="31" name="host-abstraction-title">
            <a:extLst xmlns:a="http://schemas.openxmlformats.org/drawingml/2006/main">
              <a:ext uri="{FF2B5EF4-FFF2-40B4-BE49-F238E27FC236}">
                <a16:creationId xmlns:a16="http://schemas.microsoft.com/office/drawing/2014/main" id="{6DF9D491-F6B0-4BB9-8DFF-422BB75C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81300"/>
            <a:ext cx="762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osdep.h  +  util/  +  POSIX</a:t>
            </a:r>
          </a:p>
        </p:txBody>
      </p:sp>
      <p:sp>
        <p:nvSpPr>
          <p:cNvPr id="32" name="host-abstraction-detail">
            <a:extLst xmlns:a="http://schemas.openxmlformats.org/drawingml/2006/main">
              <a:ext uri="{FF2B5EF4-FFF2-40B4-BE49-F238E27FC236}">
                <a16:creationId xmlns:a16="http://schemas.microsoft.com/office/drawing/2014/main" id="{E2F46AD4-1AF0-4F87-B575-5CAC8575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57525"/>
            <a:ext cx="7677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GLib 兼容子集提供 QEMU 所需的通用 C 工具</a:t>
            </a:r>
          </a:p>
        </p:txBody>
      </p:sp>
      <p:graphicFrame>
        <p:nvGraphicFrame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986198-3874-4C38-A9B5-E7D2156DEB78}"/>
              </a:ext>
            </a:extLst>
          </p:cNvPr>
          <p:cNvGraphicFramePr/>
          <p:nvPr/>
        </p:nvGraphicFramePr>
        <p:xfrm>
          <a:off xmlns:a="http://schemas.openxmlformats.org/drawingml/2006/main" x="647700" y="3638550"/>
          <a:ext xmlns:a="http://schemas.openxmlformats.org/drawingml/2006/main" cx="108966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24150"/>
                <a:gridCol w="2381250"/>
                <a:gridCol w="5791200"/>
              </a:tblGrid>
              <a:tr h="457200"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库</a:t>
                      </a:r>
                    </a:p>
                  </a:txBody>
                  <a:tcPr marL="91440" marR="91440" marT="45720" marB="45720" anchor="ctr">
                    <a:solidFill>
                      <a:srgbClr val="B1270A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 / 用户源文件</a:t>
                      </a:r>
                    </a:p>
                  </a:txBody>
                  <a:tcPr marL="91440" marR="91440" marT="45720" marB="45720" anchor="ctr">
                    <a:solidFill>
                      <a:srgbClr val="B1270A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集成方式</a:t>
                      </a:r>
                    </a:p>
                  </a:txBody>
                  <a:tcPr marL="91440" marR="91440" marT="45720" marB="45720" anchor="ctr">
                    <a:solidFill>
                      <a:srgbClr val="B1270A"/>
                    </a:solidFill>
                  </a:tcPr>
                </a:tc>
              </a:tr>
              <a:tr h="485775"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GLib API 子集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本地兼容子集，含 file / OS 桥接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libfdt</a:t>
                      </a:r>
                    </a:p>
                  </a:txBody>
                  <a:tcPr marL="91440" marR="91440" marT="45720" marB="45720" anchor="ctr">
                    <a:solidFill>
                      <a:srgbClr val="F7F5F3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0</a:t>
                      </a:r>
                    </a:p>
                  </a:txBody>
                  <a:tcPr marL="91440" marR="91440" marT="45720" marB="45720" anchor="ctr">
                    <a:solidFill>
                      <a:srgbClr val="F7F5F3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上游源码，未修改</a:t>
                      </a:r>
                    </a:p>
                  </a:txBody>
                  <a:tcPr marL="91440" marR="91440" marT="45720" marB="45720" anchor="ctr">
                    <a:solidFill>
                      <a:srgbClr val="F7F5F3"/>
                    </a:solidFill>
                  </a:tcPr>
                </a:tc>
              </a:tr>
              <a:tr h="485775"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zlib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/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上游源码，启用 Z_SOLO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Picolibc</a:t>
                      </a:r>
                    </a:p>
                  </a:txBody>
                  <a:tcPr marL="91440" marR="91440" marT="45720" marB="45720" anchor="ctr">
                    <a:solidFill>
                      <a:srgbClr val="F7F5F3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/ SDK</a:t>
                      </a:r>
                    </a:p>
                  </a:txBody>
                  <a:tcPr marL="91440" marR="91440" marT="45720" marB="45720" anchor="ctr">
                    <a:solidFill>
                      <a:srgbClr val="F7F5F3"/>
                    </a:solidFill>
                  </a:tcPr>
                </a:tc>
                <a:tc>
                  <a:txBody>
                    <a:bodyPr lIns="95250" tIns="38100" rIns="95250" bIns="3810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工具链 C runtime</a:t>
                      </a:r>
                    </a:p>
                  </a:txBody>
                  <a:tcPr marL="91440" marR="91440" marT="45720" marB="45720" anchor="ctr">
                    <a:solidFill>
                      <a:srgbClr val="F7F5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1257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839805-284B-457D-8793-683C38E2CC58}"/>
              </a:ext>
            </a:extLst>
          </p:cNvPr>
          <p:cNvCxnSpPr>
            <a:stCxn xmlns:a="http://schemas.openxmlformats.org/drawingml/2006/main" id="55" idx="0"/>
            <a:endCxn xmlns:a="http://schemas.openxmlformats.org/drawingml/2006/main" id="53" idx="2"/>
          </p:cNvCxnSpPr>
          <p:nvPr/>
        </p:nvCxnSpPr>
        <p:spPr>
          <a:xfrm xmlns:a="http://schemas.openxmlformats.org/drawingml/2006/main" flipV="1">
            <a:off x="6096000" y="52959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53BA05-AF6D-49E1-BB69-8BA239F4DED0}"/>
              </a:ext>
            </a:extLst>
          </p:cNvPr>
          <p:cNvCxnSpPr>
            <a:stCxn xmlns:a="http://schemas.openxmlformats.org/drawingml/2006/main" id="53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V="1">
            <a:off x="6096000" y="44481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0B47F3-8357-48C3-AE9B-A714DF16C3EA}"/>
              </a:ext>
            </a:extLst>
          </p:cNvPr>
          <p:cNvCxnSpPr>
            <a:stCxn xmlns:a="http://schemas.openxmlformats.org/drawingml/2006/main" id="37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6096000" y="3638550"/>
            <a:ext cx="36385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9EAA9B-BB2F-4F75-A8E6-FF0AF75AA9E3}"/>
              </a:ext>
            </a:extLst>
          </p:cNvPr>
          <p:cNvCxnSpPr>
            <a:stCxn xmlns:a="http://schemas.openxmlformats.org/drawingml/2006/main" id="37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H="1" flipV="1">
            <a:off x="4057650" y="3638550"/>
            <a:ext cx="20383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CEC86A-A2BE-46C0-965E-19585778761A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9734550" y="2647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sp>
        <p:nvSpPr>
          <p:cNvPr id="65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1"/>
            </a:lvl1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架构图</a:t>
            </a:r>
          </a:p>
        </p:txBody>
      </p:sp>
      <p:sp>
        <p:nvSpPr>
          <p:cNvPr id="2" name="system-mode-group">
            <a:extLst xmlns:a="http://schemas.openxmlformats.org/drawingml/2006/main">
              <a:ext uri="{FF2B5EF4-FFF2-40B4-BE49-F238E27FC236}">
                <a16:creationId xmlns:a16="http://schemas.microsoft.com/office/drawing/2014/main" id="{58931E14-3F26-4214-93B1-3D2AB58F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086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1270A"/>
            </a:solidFill>
            <a:prstDash val="solid"/>
          </a:ln>
        </p:spPr>
      </p:sp>
      <p:sp>
        <p:nvSpPr>
          <p:cNvPr id="3" name="user-mode-group">
            <a:extLst xmlns:a="http://schemas.openxmlformats.org/drawingml/2006/main">
              <a:ext uri="{FF2B5EF4-FFF2-40B4-BE49-F238E27FC236}">
                <a16:creationId xmlns:a16="http://schemas.microsoft.com/office/drawing/2014/main" id="{3DFBDF1A-961E-4629-B5C5-22D69469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14450"/>
            <a:ext cx="388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1270A"/>
            </a:solidFill>
            <a:prstDash val="solid"/>
          </a:ln>
        </p:spPr>
      </p:sp>
      <p:sp>
        <p:nvSpPr>
          <p:cNvPr id="4" name="system-mode-band">
            <a:extLst xmlns:a="http://schemas.openxmlformats.org/drawingml/2006/main">
              <a:ext uri="{FF2B5EF4-FFF2-40B4-BE49-F238E27FC236}">
                <a16:creationId xmlns:a16="http://schemas.microsoft.com/office/drawing/2014/main" id="{8DED1AEC-AA84-45A5-8AB2-15AA1C8F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708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ser-mode-band">
            <a:extLst xmlns:a="http://schemas.openxmlformats.org/drawingml/2006/main">
              <a:ext uri="{FF2B5EF4-FFF2-40B4-BE49-F238E27FC236}">
                <a16:creationId xmlns:a16="http://schemas.microsoft.com/office/drawing/2014/main" id="{C224BBEF-2A41-4148-A855-13FE18E4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14450"/>
            <a:ext cx="388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ystem-mode-label">
            <a:extLst xmlns:a="http://schemas.openxmlformats.org/drawingml/2006/main">
              <a:ext uri="{FF2B5EF4-FFF2-40B4-BE49-F238E27FC236}">
                <a16:creationId xmlns:a16="http://schemas.microsoft.com/office/drawing/2014/main" id="{924753ED-65D2-4119-9C3E-397CF0C2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681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全系统仿真  ·  qemu-system-aarch64</a:t>
            </a:r>
          </a:p>
        </p:txBody>
      </p:sp>
      <p:sp>
        <p:nvSpPr>
          <p:cNvPr id="7" name="user-mode-label">
            <a:extLst xmlns:a="http://schemas.openxmlformats.org/drawingml/2006/main">
              <a:ext uri="{FF2B5EF4-FFF2-40B4-BE49-F238E27FC236}">
                <a16:creationId xmlns:a16="http://schemas.microsoft.com/office/drawing/2014/main" id="{BEDB457C-A337-4A1E-A02D-23953E1E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37160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User Mode  ·  qemu-aarch64</a:t>
            </a:r>
          </a:p>
        </p:txBody>
      </p:sp>
      <p:sp>
        <p:nvSpPr>
          <p:cNvPr id="8" name="system-machine-profile">
            <a:extLst xmlns:a="http://schemas.openxmlformats.org/drawingml/2006/main">
              <a:ext uri="{FF2B5EF4-FFF2-40B4-BE49-F238E27FC236}">
                <a16:creationId xmlns:a16="http://schemas.microsoft.com/office/drawing/2014/main" id="{B4CEB453-6D7A-4B0F-B0C3-BA75FC6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81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0478">
            <a:solidFill>
              <a:srgbClr val="D5D5D5"/>
            </a:solidFill>
            <a:prstDash val="solid"/>
          </a:ln>
        </p:spPr>
      </p:sp>
      <p:sp>
        <p:nvSpPr>
          <p:cNvPr id="9" name="system-machine-models">
            <a:extLst xmlns:a="http://schemas.openxmlformats.org/drawingml/2006/main">
              <a:ext uri="{FF2B5EF4-FFF2-40B4-BE49-F238E27FC236}">
                <a16:creationId xmlns:a16="http://schemas.microsoft.com/office/drawing/2014/main" id="{D121B64A-49C5-4B8C-8241-20A65FE7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659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AArch64 · zephyr-virt · 1 VM / 1 vCPU / 默认 256 MiB</a:t>
            </a:r>
          </a:p>
          <a:p xmlns:a="http://schemas.openxmlformats.org/drawingml/2006/main">
            <a:pPr algn="ctr">
              <a:buNone/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Cortex-A53/A57/A72 / host · PL011 · software GICv3</a:t>
            </a:r>
          </a:p>
        </p:txBody>
      </p:sp>
      <p:sp>
        <p:nvSpPr>
          <p:cNvPr id="10" name="system-tcg-backend">
            <a:extLst xmlns:a="http://schemas.openxmlformats.org/drawingml/2006/main">
              <a:ext uri="{FF2B5EF4-FFF2-40B4-BE49-F238E27FC236}">
                <a16:creationId xmlns:a16="http://schemas.microsoft.com/office/drawing/2014/main" id="{DFFF049B-88D0-47A0-9050-72332926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2766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0478">
            <a:solidFill>
              <a:srgbClr val="D5D5D5"/>
            </a:solidFill>
            <a:prstDash val="solid"/>
          </a:ln>
        </p:spPr>
      </p:sp>
      <p:sp>
        <p:nvSpPr>
          <p:cNvPr id="11" name="system-zhv-backend">
            <a:extLst xmlns:a="http://schemas.openxmlformats.org/drawingml/2006/main">
              <a:ext uri="{FF2B5EF4-FFF2-40B4-BE49-F238E27FC236}">
                <a16:creationId xmlns:a16="http://schemas.microsoft.com/office/drawing/2014/main" id="{3980AF74-36C6-485F-8B67-DFB47D53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62200"/>
            <a:ext cx="33909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0478">
            <a:solidFill>
              <a:srgbClr val="D5D5D5"/>
            </a:solidFill>
            <a:prstDash val="solid"/>
          </a:ln>
        </p:spPr>
      </p:sp>
      <p:sp>
        <p:nvSpPr>
          <p:cNvPr id="12" name="icon-code-text">
            <a:extLst xmlns:a="http://schemas.openxmlformats.org/drawingml/2006/main">
              <a:ext uri="{FF2B5EF4-FFF2-40B4-BE49-F238E27FC236}">
                <a16:creationId xmlns:a16="http://schemas.microsoft.com/office/drawing/2014/main" id="{0400A5FB-D490-4FBC-83DB-55788860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4594"/>
            <a:ext cx="324803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3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3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&lt;/&gt;</a:t>
            </a:r>
          </a:p>
        </p:txBody>
      </p:sp>
      <p:sp>
        <p:nvSpPr>
          <p:cNvPr id="13" name="system-tcg-title">
            <a:extLst xmlns:a="http://schemas.openxmlformats.org/drawingml/2006/main">
              <a:ext uri="{FF2B5EF4-FFF2-40B4-BE49-F238E27FC236}">
                <a16:creationId xmlns:a16="http://schemas.microsoft.com/office/drawing/2014/main" id="{028863A2-436E-4852-89E9-9E9A6764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574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3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TCG  ·  AArch64  ·  EL1</a:t>
            </a:r>
          </a:p>
        </p:txBody>
      </p:sp>
      <p:sp>
        <p:nvSpPr>
          <p:cNvPr id="14" name="system-tcg-detail">
            <a:extLst xmlns:a="http://schemas.openxmlformats.org/drawingml/2006/main">
              <a:ext uri="{FF2B5EF4-FFF2-40B4-BE49-F238E27FC236}">
                <a16:creationId xmlns:a16="http://schemas.microsoft.com/office/drawing/2014/main" id="{76B2B40D-4905-4C50-A480-2B98E97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软件指令翻译 · software TLB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RW/RX 分离的 JIT 代码缓冲区</a:t>
            </a:r>
          </a:p>
        </p:txBody>
      </p:sp>
      <p:sp>
        <p:nvSpPr>
          <p:cNvPr id="15" name="icon-cpu-body">
            <a:extLst xmlns:a="http://schemas.openxmlformats.org/drawingml/2006/main">
              <a:ext uri="{FF2B5EF4-FFF2-40B4-BE49-F238E27FC236}">
                <a16:creationId xmlns:a16="http://schemas.microsoft.com/office/drawing/2014/main" id="{2B5E5AEC-B411-405C-80C9-8892F73D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99" y="2480310"/>
            <a:ext cx="220028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1270A"/>
            </a:solidFill>
            <a:prstDash val="solid"/>
          </a:ln>
        </p:spPr>
      </p:sp>
      <p:sp>
        <p:nvSpPr>
          <p:cNvPr id="16" name="icon-cpu-core">
            <a:extLst xmlns:a="http://schemas.openxmlformats.org/drawingml/2006/main">
              <a:ext uri="{FF2B5EF4-FFF2-40B4-BE49-F238E27FC236}">
                <a16:creationId xmlns:a16="http://schemas.microsoft.com/office/drawing/2014/main" id="{B90DF0A7-2770-461B-BC1D-A9AA67A8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27459"/>
            <a:ext cx="104775" cy="94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E2"/>
          </a:solidFill>
          <a:ln xmlns:a="http://schemas.openxmlformats.org/drawingml/2006/main" w="10478">
            <a:solidFill>
              <a:srgbClr val="B1270A"/>
            </a:solidFill>
            <a:prstDash val="solid"/>
          </a:ln>
        </p:spPr>
      </p:sp>
      <p:sp>
        <p:nvSpPr>
          <p:cNvPr id="17" name="icon-cpu-top-16">
            <a:extLst xmlns:a="http://schemas.openxmlformats.org/drawingml/2006/main">
              <a:ext uri="{FF2B5EF4-FFF2-40B4-BE49-F238E27FC236}">
                <a16:creationId xmlns:a16="http://schemas.microsoft.com/office/drawing/2014/main" id="{483F3F24-56AF-4F5E-A775-6DBF56AE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93870" y="2443639"/>
            <a:ext cx="0" cy="36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18" name="icon-cpu-bottom-16">
            <a:extLst xmlns:a="http://schemas.openxmlformats.org/drawingml/2006/main">
              <a:ext uri="{FF2B5EF4-FFF2-40B4-BE49-F238E27FC236}">
                <a16:creationId xmlns:a16="http://schemas.microsoft.com/office/drawing/2014/main" id="{FD6F6A44-FBA2-4B06-80A3-B47195D0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93870" y="2668905"/>
            <a:ext cx="0" cy="36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19" name="icon-cpu-left-16">
            <a:extLst xmlns:a="http://schemas.openxmlformats.org/drawingml/2006/main">
              <a:ext uri="{FF2B5EF4-FFF2-40B4-BE49-F238E27FC236}">
                <a16:creationId xmlns:a16="http://schemas.microsoft.com/office/drawing/2014/main" id="{7CB4EC0F-DDDB-44CA-8FFE-515DDCD2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20528" y="2480310"/>
            <a:ext cx="36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0" name="icon-cpu-right-16">
            <a:extLst xmlns:a="http://schemas.openxmlformats.org/drawingml/2006/main">
              <a:ext uri="{FF2B5EF4-FFF2-40B4-BE49-F238E27FC236}">
                <a16:creationId xmlns:a16="http://schemas.microsoft.com/office/drawing/2014/main" id="{B315474D-436F-43A8-BD48-79C2A8EB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77226" y="2480310"/>
            <a:ext cx="36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1" name="icon-cpu-top-27">
            <a:extLst xmlns:a="http://schemas.openxmlformats.org/drawingml/2006/main">
              <a:ext uri="{FF2B5EF4-FFF2-40B4-BE49-F238E27FC236}">
                <a16:creationId xmlns:a16="http://schemas.microsoft.com/office/drawing/2014/main" id="{465BD2AB-1B7A-4317-B880-CEAC910F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51496" y="2443639"/>
            <a:ext cx="0" cy="36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2" name="icon-cpu-bottom-27">
            <a:extLst xmlns:a="http://schemas.openxmlformats.org/drawingml/2006/main">
              <a:ext uri="{FF2B5EF4-FFF2-40B4-BE49-F238E27FC236}">
                <a16:creationId xmlns:a16="http://schemas.microsoft.com/office/drawing/2014/main" id="{6B86A2BF-7C63-4615-A1A2-A50E0F3C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51496" y="2668905"/>
            <a:ext cx="0" cy="36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3" name="icon-cpu-left-27">
            <a:extLst xmlns:a="http://schemas.openxmlformats.org/drawingml/2006/main">
              <a:ext uri="{FF2B5EF4-FFF2-40B4-BE49-F238E27FC236}">
                <a16:creationId xmlns:a16="http://schemas.microsoft.com/office/drawing/2014/main" id="{5ED6CBCF-84E4-47BC-BC92-CA3B9586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20528" y="2537936"/>
            <a:ext cx="36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4" name="icon-cpu-right-27">
            <a:extLst xmlns:a="http://schemas.openxmlformats.org/drawingml/2006/main">
              <a:ext uri="{FF2B5EF4-FFF2-40B4-BE49-F238E27FC236}">
                <a16:creationId xmlns:a16="http://schemas.microsoft.com/office/drawing/2014/main" id="{248E4383-D81B-42ED-A06C-9A7CEDD5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77226" y="2537936"/>
            <a:ext cx="36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5" name="icon-cpu-top-38">
            <a:extLst xmlns:a="http://schemas.openxmlformats.org/drawingml/2006/main">
              <a:ext uri="{FF2B5EF4-FFF2-40B4-BE49-F238E27FC236}">
                <a16:creationId xmlns:a16="http://schemas.microsoft.com/office/drawing/2014/main" id="{A10C4D10-DD9A-440E-9EF8-AEAD5A52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09123" y="2443639"/>
            <a:ext cx="0" cy="36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6" name="icon-cpu-bottom-38">
            <a:extLst xmlns:a="http://schemas.openxmlformats.org/drawingml/2006/main">
              <a:ext uri="{FF2B5EF4-FFF2-40B4-BE49-F238E27FC236}">
                <a16:creationId xmlns:a16="http://schemas.microsoft.com/office/drawing/2014/main" id="{9AE9F48C-EDA0-45E4-8AC1-4A383BA3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09123" y="2668905"/>
            <a:ext cx="0" cy="36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7" name="icon-cpu-left-38">
            <a:extLst xmlns:a="http://schemas.openxmlformats.org/drawingml/2006/main">
              <a:ext uri="{FF2B5EF4-FFF2-40B4-BE49-F238E27FC236}">
                <a16:creationId xmlns:a16="http://schemas.microsoft.com/office/drawing/2014/main" id="{1AB8297C-1CC4-478B-AB63-2AAABE7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20528" y="2595563"/>
            <a:ext cx="36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8" name="icon-cpu-right-38">
            <a:extLst xmlns:a="http://schemas.openxmlformats.org/drawingml/2006/main">
              <a:ext uri="{FF2B5EF4-FFF2-40B4-BE49-F238E27FC236}">
                <a16:creationId xmlns:a16="http://schemas.microsoft.com/office/drawing/2014/main" id="{38942AE3-9230-40BD-AE54-1ECC3D28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77226" y="2595563"/>
            <a:ext cx="36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97">
            <a:solidFill>
              <a:srgbClr val="B1270A"/>
            </a:solidFill>
            <a:prstDash val="solid"/>
          </a:ln>
        </p:spPr>
      </p:sp>
      <p:sp>
        <p:nvSpPr>
          <p:cNvPr id="29" name="system-zhv-title">
            <a:extLst xmlns:a="http://schemas.openxmlformats.org/drawingml/2006/main">
              <a:ext uri="{FF2B5EF4-FFF2-40B4-BE49-F238E27FC236}">
                <a16:creationId xmlns:a16="http://schemas.microsoft.com/office/drawing/2014/main" id="{896E56D1-1FDA-4AD4-AD89-38423D58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ZHV  ·  AArch64  ·  EL2 硬件虚拟化</a:t>
            </a:r>
          </a:p>
        </p:txBody>
      </p:sp>
      <p:sp>
        <p:nvSpPr>
          <p:cNvPr id="30" name="system-zhv-detail">
            <a:extLst xmlns:a="http://schemas.openxmlformats.org/drawingml/2006/main">
              <a:ext uri="{FF2B5EF4-FFF2-40B4-BE49-F238E27FC236}">
                <a16:creationId xmlns:a16="http://schemas.microsoft.com/office/drawing/2014/main" id="{E91E82DD-C5A4-42EB-8C5E-37C0B64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8194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自研 Zephyr non-VHE guest executor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Stage-2 · traps · CNTV / CNTHP timers</a:t>
            </a:r>
          </a:p>
        </p:txBody>
      </p:sp>
      <p:sp>
        <p:nvSpPr>
          <p:cNvPr id="31" name="user-profile">
            <a:extLst xmlns:a="http://schemas.openxmlformats.org/drawingml/2006/main">
              <a:ext uri="{FF2B5EF4-FFF2-40B4-BE49-F238E27FC236}">
                <a16:creationId xmlns:a16="http://schemas.microsoft.com/office/drawing/2014/main" id="{0BF5DBCF-0907-46C8-AD42-9F83EC9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0225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Linux AArch64 ELF  ·  static  ·  64 MiB</a:t>
            </a:r>
          </a:p>
        </p:txBody>
      </p:sp>
      <p:sp>
        <p:nvSpPr>
          <p:cNvPr id="32" name="user-tcg">
            <a:extLst xmlns:a="http://schemas.openxmlformats.org/drawingml/2006/main">
              <a:ext uri="{FF2B5EF4-FFF2-40B4-BE49-F238E27FC236}">
                <a16:creationId xmlns:a16="http://schemas.microsoft.com/office/drawing/2014/main" id="{1A6889DA-3B52-42EE-B98C-C4465984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81225"/>
            <a:ext cx="35052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0478">
            <a:solidFill>
              <a:srgbClr val="D5D5D5"/>
            </a:solidFill>
            <a:prstDash val="solid"/>
          </a:ln>
        </p:spPr>
      </p:sp>
      <p:sp>
        <p:nvSpPr>
          <p:cNvPr id="33" name="user-syscall">
            <a:extLst xmlns:a="http://schemas.openxmlformats.org/drawingml/2006/main">
              <a:ext uri="{FF2B5EF4-FFF2-40B4-BE49-F238E27FC236}">
                <a16:creationId xmlns:a16="http://schemas.microsoft.com/office/drawing/2014/main" id="{1FFD6F89-6B69-4158-9638-E2106C22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505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0478">
            <a:solidFill>
              <a:srgbClr val="D5D5D5"/>
            </a:solidFill>
            <a:prstDash val="solid"/>
          </a:ln>
        </p:spPr>
      </p:sp>
      <p:sp>
        <p:nvSpPr>
          <p:cNvPr id="34" name="user-tcg-label">
            <a:extLst xmlns:a="http://schemas.openxmlformats.org/drawingml/2006/main">
              <a:ext uri="{FF2B5EF4-FFF2-40B4-BE49-F238E27FC236}">
                <a16:creationId xmlns:a16="http://schemas.microsoft.com/office/drawing/2014/main" id="{30ED6C5A-FEF5-4ACF-85D9-A39550E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AArch64 User TCG  ·  ELF loader / guest memory</a:t>
            </a:r>
          </a:p>
        </p:txBody>
      </p:sp>
      <p:sp>
        <p:nvSpPr>
          <p:cNvPr id="35" name="user-syscall-label">
            <a:extLst xmlns:a="http://schemas.openxmlformats.org/drawingml/2006/main">
              <a:ext uri="{FF2B5EF4-FFF2-40B4-BE49-F238E27FC236}">
                <a16:creationId xmlns:a16="http://schemas.microsoft.com/office/drawing/2014/main" id="{02EFD3BA-2A55-45F4-BE04-E939EDBD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67025"/>
            <a:ext cx="327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svc / x8  →  Linux syscall adapter</a:t>
            </a:r>
          </a:p>
          <a:p xmlns:a="http://schemas.openxmlformats.org/drawingml/2006/main">
            <a:pPr algn="ctr">
              <a:buNone/>
              <a:def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Zephyr POSIX · files · memory · clocks · entropy</a:t>
            </a:r>
          </a:p>
        </p:txBody>
      </p:sp>
      <p:sp>
        <p:nvSpPr>
          <p:cNvPr id="37" name="qemu-on-zephyr-layer">
            <a:extLst xmlns:a="http://schemas.openxmlformats.org/drawingml/2006/main">
              <a:ext uri="{FF2B5EF4-FFF2-40B4-BE49-F238E27FC236}">
                <a16:creationId xmlns:a16="http://schemas.microsoft.com/office/drawing/2014/main" id="{453FBE21-1C07-4CC3-A879-62090C67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33825"/>
            <a:ext cx="701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270A"/>
          </a:solidFill>
          <a:ln xmlns:a="http://schemas.openxmlformats.org/drawingml/2006/main" w="9525">
            <a:solidFill>
              <a:srgbClr val="B1270A"/>
            </a:solidFill>
            <a:prstDash val="solid"/>
          </a:ln>
        </p:spPr>
      </p:sp>
      <p:sp>
        <p:nvSpPr>
          <p:cNvPr id="38" name="icon-cpu-body">
            <a:extLst xmlns:a="http://schemas.openxmlformats.org/drawingml/2006/main">
              <a:ext uri="{FF2B5EF4-FFF2-40B4-BE49-F238E27FC236}">
                <a16:creationId xmlns:a16="http://schemas.microsoft.com/office/drawing/2014/main" id="{FD504DCF-5643-4AB0-B96C-8CF9D19B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504" y="3993642"/>
            <a:ext cx="264033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FFFFFF"/>
            </a:solidFill>
            <a:prstDash val="solid"/>
          </a:ln>
        </p:spPr>
      </p:sp>
      <p:sp>
        <p:nvSpPr>
          <p:cNvPr id="39" name="icon-cpu-core">
            <a:extLst xmlns:a="http://schemas.openxmlformats.org/drawingml/2006/main">
              <a:ext uri="{FF2B5EF4-FFF2-40B4-BE49-F238E27FC236}">
                <a16:creationId xmlns:a16="http://schemas.microsoft.com/office/drawing/2014/main" id="{2C5901A1-CC2D-45D8-B2D5-80FA2449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5" y="4050221"/>
            <a:ext cx="125730" cy="113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E2"/>
          </a:solidFill>
          <a:ln xmlns:a="http://schemas.openxmlformats.org/drawingml/2006/main" w="12573">
            <a:solidFill>
              <a:srgbClr val="FFFFFF"/>
            </a:solidFill>
            <a:prstDash val="solid"/>
          </a:ln>
        </p:spPr>
      </p:sp>
      <p:sp>
        <p:nvSpPr>
          <p:cNvPr id="40" name="icon-cpu-top-16">
            <a:extLst xmlns:a="http://schemas.openxmlformats.org/drawingml/2006/main">
              <a:ext uri="{FF2B5EF4-FFF2-40B4-BE49-F238E27FC236}">
                <a16:creationId xmlns:a16="http://schemas.microsoft.com/office/drawing/2014/main" id="{4E502C95-E332-4B1E-8729-D58ED7B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29509" y="3949637"/>
            <a:ext cx="0" cy="44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41" name="icon-cpu-bottom-16">
            <a:extLst xmlns:a="http://schemas.openxmlformats.org/drawingml/2006/main">
              <a:ext uri="{FF2B5EF4-FFF2-40B4-BE49-F238E27FC236}">
                <a16:creationId xmlns:a16="http://schemas.microsoft.com/office/drawing/2014/main" id="{473EBA07-F901-4528-822C-1EDE75B9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29509" y="4219956"/>
            <a:ext cx="0" cy="44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42" name="icon-cpu-left-16">
            <a:extLst xmlns:a="http://schemas.openxmlformats.org/drawingml/2006/main">
              <a:ext uri="{FF2B5EF4-FFF2-40B4-BE49-F238E27FC236}">
                <a16:creationId xmlns:a16="http://schemas.microsoft.com/office/drawing/2014/main" id="{304E9CEB-B39C-4486-BC13-C2A06952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41498" y="3993642"/>
            <a:ext cx="440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43" name="icon-cpu-right-16">
            <a:extLst xmlns:a="http://schemas.openxmlformats.org/drawingml/2006/main">
              <a:ext uri="{FF2B5EF4-FFF2-40B4-BE49-F238E27FC236}">
                <a16:creationId xmlns:a16="http://schemas.microsoft.com/office/drawing/2014/main" id="{49FD8813-8F93-49EC-85AE-AE6B790B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9537" y="3993642"/>
            <a:ext cx="44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44" name="icon-cpu-top-27">
            <a:extLst xmlns:a="http://schemas.openxmlformats.org/drawingml/2006/main">
              <a:ext uri="{FF2B5EF4-FFF2-40B4-BE49-F238E27FC236}">
                <a16:creationId xmlns:a16="http://schemas.microsoft.com/office/drawing/2014/main" id="{51AE5166-4BD6-4B9E-A4A0-0CC255EF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98661" y="3949637"/>
            <a:ext cx="0" cy="44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45" name="icon-cpu-bottom-27">
            <a:extLst xmlns:a="http://schemas.openxmlformats.org/drawingml/2006/main">
              <a:ext uri="{FF2B5EF4-FFF2-40B4-BE49-F238E27FC236}">
                <a16:creationId xmlns:a16="http://schemas.microsoft.com/office/drawing/2014/main" id="{DC3F4E15-3EA6-412E-8E9D-733BBC3A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98661" y="4219956"/>
            <a:ext cx="0" cy="44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46" name="icon-cpu-left-27">
            <a:extLst xmlns:a="http://schemas.openxmlformats.org/drawingml/2006/main">
              <a:ext uri="{FF2B5EF4-FFF2-40B4-BE49-F238E27FC236}">
                <a16:creationId xmlns:a16="http://schemas.microsoft.com/office/drawing/2014/main" id="{826EF5AB-BC93-4578-B72F-72182B60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41498" y="4062794"/>
            <a:ext cx="440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47" name="icon-cpu-right-27">
            <a:extLst xmlns:a="http://schemas.openxmlformats.org/drawingml/2006/main">
              <a:ext uri="{FF2B5EF4-FFF2-40B4-BE49-F238E27FC236}">
                <a16:creationId xmlns:a16="http://schemas.microsoft.com/office/drawing/2014/main" id="{5D2D16F8-DEEB-4195-A1C5-B886F89E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9537" y="4062794"/>
            <a:ext cx="44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48" name="icon-cpu-top-38">
            <a:extLst xmlns:a="http://schemas.openxmlformats.org/drawingml/2006/main">
              <a:ext uri="{FF2B5EF4-FFF2-40B4-BE49-F238E27FC236}">
                <a16:creationId xmlns:a16="http://schemas.microsoft.com/office/drawing/2014/main" id="{9373CA38-E420-4BEF-9B27-C2FABC57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67812" y="3949637"/>
            <a:ext cx="0" cy="44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49" name="icon-cpu-bottom-38">
            <a:extLst xmlns:a="http://schemas.openxmlformats.org/drawingml/2006/main">
              <a:ext uri="{FF2B5EF4-FFF2-40B4-BE49-F238E27FC236}">
                <a16:creationId xmlns:a16="http://schemas.microsoft.com/office/drawing/2014/main" id="{12583B00-3BE4-4F0D-8A8A-5C0F6497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67812" y="4219956"/>
            <a:ext cx="0" cy="44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50" name="icon-cpu-left-38">
            <a:extLst xmlns:a="http://schemas.openxmlformats.org/drawingml/2006/main">
              <a:ext uri="{FF2B5EF4-FFF2-40B4-BE49-F238E27FC236}">
                <a16:creationId xmlns:a16="http://schemas.microsoft.com/office/drawing/2014/main" id="{C588537E-5485-422D-9877-D5B624C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41498" y="4131945"/>
            <a:ext cx="440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51" name="icon-cpu-right-38">
            <a:extLst xmlns:a="http://schemas.openxmlformats.org/drawingml/2006/main">
              <a:ext uri="{FF2B5EF4-FFF2-40B4-BE49-F238E27FC236}">
                <a16:creationId xmlns:a16="http://schemas.microsoft.com/office/drawing/2014/main" id="{2FA6E41F-7109-40DC-899E-5BD324CE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9537" y="4131945"/>
            <a:ext cx="44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16">
            <a:solidFill>
              <a:srgbClr val="FFFFFF"/>
            </a:solidFill>
            <a:prstDash val="solid"/>
          </a:ln>
        </p:spPr>
      </p:sp>
      <p:sp>
        <p:nvSpPr>
          <p:cNvPr id="52" name="qemu-on-zephyr-label">
            <a:extLst xmlns:a="http://schemas.openxmlformats.org/drawingml/2006/main">
              <a:ext uri="{FF2B5EF4-FFF2-40B4-BE49-F238E27FC236}">
                <a16:creationId xmlns:a16="http://schemas.microsoft.com/office/drawing/2014/main" id="{F3700B93-3D5E-4BD3-8D74-00DE5D22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00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QEMU on Zephyr  ·  全系统与用户态仿真</a:t>
            </a:r>
          </a:p>
        </p:txBody>
      </p:sp>
      <p:sp>
        <p:nvSpPr>
          <p:cNvPr id="53" name="zephyr-host-layer">
            <a:extLst xmlns:a="http://schemas.openxmlformats.org/drawingml/2006/main">
              <a:ext uri="{FF2B5EF4-FFF2-40B4-BE49-F238E27FC236}">
                <a16:creationId xmlns:a16="http://schemas.microsoft.com/office/drawing/2014/main" id="{2F7B9842-D24D-4867-985B-DDA5D3F2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8"/>
          </a:solidFill>
          <a:ln xmlns:a="http://schemas.openxmlformats.org/drawingml/2006/main" w="17145">
            <a:solidFill>
              <a:srgbClr val="B1270A"/>
            </a:solidFill>
            <a:prstDash val="solid"/>
          </a:ln>
        </p:spPr>
      </p:sp>
      <p:sp>
        <p:nvSpPr>
          <p:cNvPr id="54" name="zephyr-host-label">
            <a:extLst xmlns:a="http://schemas.openxmlformats.org/drawingml/2006/main">
              <a:ext uri="{FF2B5EF4-FFF2-40B4-BE49-F238E27FC236}">
                <a16:creationId xmlns:a16="http://schemas.microsoft.com/office/drawing/2014/main" id="{62D56F70-4022-42FB-B36B-80C2063F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48225"/>
            <a:ext cx="822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Zephyr RTOS  ·  POSIX / Picolibc  ·  Shell  ·  QEMU worker / owner loop</a:t>
            </a:r>
          </a:p>
        </p:txBody>
      </p:sp>
      <p:sp>
        <p:nvSpPr>
          <p:cNvPr id="55" name="execution-platform-layer">
            <a:extLst xmlns:a="http://schemas.openxmlformats.org/drawingml/2006/main">
              <a:ext uri="{FF2B5EF4-FFF2-40B4-BE49-F238E27FC236}">
                <a16:creationId xmlns:a16="http://schemas.microsoft.com/office/drawing/2014/main" id="{8C024F1F-242E-4F4F-A733-08D9A53B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1114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1430">
            <a:solidFill>
              <a:srgbClr val="D5D5D5"/>
            </a:solidFill>
            <a:prstDash val="solid"/>
          </a:ln>
        </p:spPr>
      </p:sp>
      <p:sp>
        <p:nvSpPr>
          <p:cNvPr id="56" name="execution-platform-title">
            <a:extLst xmlns:a="http://schemas.openxmlformats.org/drawingml/2006/main">
              <a:ext uri="{FF2B5EF4-FFF2-40B4-BE49-F238E27FC236}">
                <a16:creationId xmlns:a16="http://schemas.microsoft.com/office/drawing/2014/main" id="{D542A86B-6CE4-47FD-ABE5-6E1EE8AC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AArch64 基础运行环境</a:t>
            </a:r>
          </a:p>
        </p:txBody>
      </p:sp>
      <p:sp>
        <p:nvSpPr>
          <p:cNvPr id="57" name="qemu-platform-option">
            <a:extLst xmlns:a="http://schemas.openxmlformats.org/drawingml/2006/main">
              <a:ext uri="{FF2B5EF4-FFF2-40B4-BE49-F238E27FC236}">
                <a16:creationId xmlns:a16="http://schemas.microsoft.com/office/drawing/2014/main" id="{683E50F8-5E43-477C-B7C1-A1C7DE27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72150"/>
            <a:ext cx="508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8" name="hardware-platform-option">
            <a:extLst xmlns:a="http://schemas.openxmlformats.org/drawingml/2006/main">
              <a:ext uri="{FF2B5EF4-FFF2-40B4-BE49-F238E27FC236}">
                <a16:creationId xmlns:a16="http://schemas.microsoft.com/office/drawing/2014/main" id="{C0982548-D8F0-421E-ADE9-F087D97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72150"/>
            <a:ext cx="508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9" name="qemu-platform-label">
            <a:extLst xmlns:a="http://schemas.openxmlformats.org/drawingml/2006/main">
              <a:ext uri="{FF2B5EF4-FFF2-40B4-BE49-F238E27FC236}">
                <a16:creationId xmlns:a16="http://schemas.microsoft.com/office/drawing/2014/main" id="{2086658B-5F66-4D2A-AC36-EE01C875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4914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验证平台 · 外层 QEMU virt + TCG / HVF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VirtIO / Ext2 · pmem 镜像</a:t>
            </a:r>
          </a:p>
        </p:txBody>
      </p:sp>
      <p:sp>
        <p:nvSpPr>
          <p:cNvPr id="60" name="hardware-platform-label">
            <a:extLst xmlns:a="http://schemas.openxmlformats.org/drawingml/2006/main">
              <a:ext uri="{FF2B5EF4-FFF2-40B4-BE49-F238E27FC236}">
                <a16:creationId xmlns:a16="http://schemas.microsoft.com/office/drawing/2014/main" id="{E27C99D7-D175-4777-A86B-F6831F9A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91200"/>
            <a:ext cx="4914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部署目标  ·  真实 AArch64 硬件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需 BSP / 平台适配验证</a:t>
            </a:r>
          </a:p>
        </p:txBody>
      </p:sp>
    </p:spTree>
    <p:extLst>
      <p:ext uri="{BB962C8B-B14F-4D97-AF65-F5344CB8AC3E}">
        <p14:creationId xmlns:p14="http://schemas.microsoft.com/office/powerpoint/2010/main" val="13085992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1"/>
            </a:lvl1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修改边界</a:t>
            </a:r>
          </a:p>
        </p:txBody>
      </p:sp>
      <p:sp>
        <p:nvSpPr>
          <p:cNvPr id="2" name="qemu-stat-top-rule">
            <a:extLst xmlns:a="http://schemas.openxmlformats.org/drawingml/2006/main">
              <a:ext uri="{FF2B5EF4-FFF2-40B4-BE49-F238E27FC236}">
                <a16:creationId xmlns:a16="http://schemas.microsoft.com/office/drawing/2014/main" id="{D30C23B0-E617-4B7C-BA93-264215FF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81125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3" name="zephyr-stat-top-rule">
            <a:extLst xmlns:a="http://schemas.openxmlformats.org/drawingml/2006/main">
              <a:ext uri="{FF2B5EF4-FFF2-40B4-BE49-F238E27FC236}">
                <a16:creationId xmlns:a16="http://schemas.microsoft.com/office/drawing/2014/main" id="{1230EF5E-B8F4-4490-B4D6-44FCEBED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62700" y="1381125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4" name="qemu-patch-series-summary">
            <a:extLst xmlns:a="http://schemas.openxmlformats.org/drawingml/2006/main">
              <a:ext uri="{FF2B5EF4-FFF2-40B4-BE49-F238E27FC236}">
                <a16:creationId xmlns:a16="http://schemas.microsoft.com/office/drawing/2014/main" id="{FF7F1244-5E89-46E4-AE96-1CB97F47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28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QEMU  ·  16 个补丁  ·  37 个文件  ·  +382 / −140  ·  新增文件 0</a:t>
            </a:r>
          </a:p>
        </p:txBody>
      </p:sp>
      <p:sp>
        <p:nvSpPr>
          <p:cNvPr id="5" name="zephyr-patch-series-summary">
            <a:extLst xmlns:a="http://schemas.openxmlformats.org/drawingml/2006/main">
              <a:ext uri="{FF2B5EF4-FFF2-40B4-BE49-F238E27FC236}">
                <a16:creationId xmlns:a16="http://schemas.microsoft.com/office/drawing/2014/main" id="{E9B08509-E8D4-4597-995E-A3A50242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95425"/>
            <a:ext cx="528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Zephyr  ·  9 个补丁  ·  20 个文件  ·  +326 / −62  ·  新增文件 0</a:t>
            </a:r>
          </a:p>
        </p:txBody>
      </p:sp>
      <p:sp>
        <p:nvSpPr>
          <p:cNvPr id="85" name="qemu-overlay-card">
            <a:extLst xmlns:a="http://schemas.openxmlformats.org/drawingml/2006/main">
              <a:ext uri="{FF2B5EF4-FFF2-40B4-BE49-F238E27FC236}">
                <a16:creationId xmlns:a16="http://schemas.microsoft.com/office/drawing/2014/main" id="{9295A464-0ADF-4E8A-8D12-7687271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53050"/>
            <a:ext cx="53054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86" name="zephyr-overlay-card">
            <a:extLst xmlns:a="http://schemas.openxmlformats.org/drawingml/2006/main">
              <a:ext uri="{FF2B5EF4-FFF2-40B4-BE49-F238E27FC236}">
                <a16:creationId xmlns:a16="http://schemas.microsoft.com/office/drawing/2014/main" id="{A8763215-642D-4C81-A93E-BA10530E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53050"/>
            <a:ext cx="53054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87" name="qemu-overlay-heading">
            <a:extLst xmlns:a="http://schemas.openxmlformats.org/drawingml/2006/main">
              <a:ext uri="{FF2B5EF4-FFF2-40B4-BE49-F238E27FC236}">
                <a16:creationId xmlns:a16="http://schemas.microsoft.com/office/drawing/2014/main" id="{B1F00861-D4A3-497F-9058-BEFB8F56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5057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8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QEMU 移植代码  ·  42 个源码文件</a:t>
            </a:r>
          </a:p>
        </p:txBody>
      </p:sp>
      <p:sp>
        <p:nvSpPr>
          <p:cNvPr id="88" name="qemu-posix-lines">
            <a:extLst xmlns:a="http://schemas.openxmlformats.org/drawingml/2006/main">
              <a:ext uri="{FF2B5EF4-FFF2-40B4-BE49-F238E27FC236}">
                <a16:creationId xmlns:a16="http://schemas.microsoft.com/office/drawing/2014/main" id="{551AD296-9A5F-4BA9-9FBC-B411D377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505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POSIX / 操作系统适配  ·  5 个文件 / 941 行</a:t>
            </a:r>
          </a:p>
        </p:txBody>
      </p:sp>
      <p:sp>
        <p:nvSpPr>
          <p:cNvPr id="89" name="qemu-glib-lines">
            <a:extLst xmlns:a="http://schemas.openxmlformats.org/drawingml/2006/main">
              <a:ext uri="{FF2B5EF4-FFF2-40B4-BE49-F238E27FC236}">
                <a16:creationId xmlns:a16="http://schemas.microsoft.com/office/drawing/2014/main" id="{2B05B9E9-58DF-48B7-8EF6-013F70A6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505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GLib 兼容子集  ·  9 个文件 / 4,531 行</a:t>
            </a:r>
          </a:p>
        </p:txBody>
      </p:sp>
      <p:sp>
        <p:nvSpPr>
          <p:cNvPr id="90" name="qemu-feature-lines">
            <a:extLst xmlns:a="http://schemas.openxmlformats.org/drawingml/2006/main">
              <a:ext uri="{FF2B5EF4-FFF2-40B4-BE49-F238E27FC236}">
                <a16:creationId xmlns:a16="http://schemas.microsoft.com/office/drawing/2014/main" id="{4E435813-1AE4-4472-A4B5-668166C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505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QEMU 功能适配  ·  28 个文件 / 4,288 行</a:t>
            </a:r>
          </a:p>
        </p:txBody>
      </p:sp>
      <p:sp>
        <p:nvSpPr>
          <p:cNvPr id="91" name="qemu-linux-header-lines">
            <a:extLst xmlns:a="http://schemas.openxmlformats.org/drawingml/2006/main">
              <a:ext uri="{FF2B5EF4-FFF2-40B4-BE49-F238E27FC236}">
                <a16:creationId xmlns:a16="http://schemas.microsoft.com/office/drawing/2014/main" id="{FAD25707-DAEB-44E3-A58A-E53B8647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43625"/>
            <a:ext cx="505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QEMU 0014  ·  target_elf.h +5/−1  ·  target_signal.h +2/−0</a:t>
            </a:r>
          </a:p>
        </p:txBody>
      </p:sp>
      <p:sp>
        <p:nvSpPr>
          <p:cNvPr id="92" name="zephyr-overlay-heading">
            <a:extLst xmlns:a="http://schemas.openxmlformats.org/drawingml/2006/main">
              <a:ext uri="{FF2B5EF4-FFF2-40B4-BE49-F238E27FC236}">
                <a16:creationId xmlns:a16="http://schemas.microsoft.com/office/drawing/2014/main" id="{969006B4-9052-49B2-9A12-CFC082D0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372100"/>
            <a:ext cx="5057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8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Zephyr 侧修改  ·  26 个文件 / 2,556 行</a:t>
            </a:r>
          </a:p>
        </p:txBody>
      </p:sp>
      <p:sp>
        <p:nvSpPr>
          <p:cNvPr id="93" name="zephyr-zhv-lines">
            <a:extLst xmlns:a="http://schemas.openxmlformats.org/drawingml/2006/main">
              <a:ext uri="{FF2B5EF4-FFF2-40B4-BE49-F238E27FC236}">
                <a16:creationId xmlns:a16="http://schemas.microsoft.com/office/drawing/2014/main" id="{E5381D61-00C7-4E94-8A66-CE03E19D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72125"/>
            <a:ext cx="505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ZHV 核心 4 / 1,044 行  ·  API 与构建集成 3 / 272 行</a:t>
            </a:r>
          </a:p>
        </p:txBody>
      </p:sp>
      <p:sp>
        <p:nvSpPr>
          <p:cNvPr id="94" name="zephyr-test-lines">
            <a:extLst xmlns:a="http://schemas.openxmlformats.org/drawingml/2006/main">
              <a:ext uri="{FF2B5EF4-FFF2-40B4-BE49-F238E27FC236}">
                <a16:creationId xmlns:a16="http://schemas.microsoft.com/office/drawing/2014/main" id="{C577A86E-94FF-4857-97BE-58E6CB8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762625"/>
            <a:ext cx="505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测试与配置  ·  19 个文件 / 1,240 行</a:t>
            </a:r>
          </a:p>
        </p:txBody>
      </p:sp>
      <p:sp>
        <p:nvSpPr>
          <p:cNvPr id="95" name="zephyr-posix-header-lines">
            <a:extLst xmlns:a="http://schemas.openxmlformats.org/drawingml/2006/main">
              <a:ext uri="{FF2B5EF4-FFF2-40B4-BE49-F238E27FC236}">
                <a16:creationId xmlns:a16="http://schemas.microsoft.com/office/drawing/2014/main" id="{C2496297-0FCB-4498-A38D-AE12A0FC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953125"/>
            <a:ext cx="505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Zephyr POSIX 头文件  ·  unistd.h  ·  sys/mman.h</a:t>
            </a:r>
          </a:p>
        </p:txBody>
      </p:sp>
      <p:graphicFrame>
        <p:nvGraphicFrame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309A77F-0D94-4D8F-A15F-81987EC3C5CE}"/>
              </a:ext>
            </a:extLst>
          </p:cNvPr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5305425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33725"/>
                <a:gridCol w="666750"/>
                <a:gridCol w="1504950"/>
              </a:tblGrid>
              <a:tr h="257175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补丁 / 范围</a:t>
                      </a:r>
                    </a:p>
                  </a:txBody>
                  <a:tcPr marL="76200" marR="76200" marT="0" marB="0" anchor="ctr">
                    <a:solidFill>
                      <a:srgbClr val="B1270A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文件数</a:t>
                      </a:r>
                    </a:p>
                  </a:txBody>
                  <a:tcPr marL="76200" marR="76200" marT="0" marB="0" anchor="ctr">
                    <a:solidFill>
                      <a:srgbClr val="B1270A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/ 删除行</a:t>
                      </a:r>
                    </a:p>
                  </a:txBody>
                  <a:tcPr marL="76200" marR="76200" marT="0" marB="0" anchor="ctr">
                    <a:solidFill>
                      <a:srgbClr val="B1270A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0001 Host definitions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+16 / −1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0002 Aligned allocation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 / −1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0003 Executable/data paths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+23 / −3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0004 Wall-clock timestamps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 / −2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0005 Reject unsupported random modes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+17 / −1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0006 CPU/machine lifecycle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+46 / −1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0007 Skip migration registration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+18 / −0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0008 Linux payload loader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+23 / −1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0009 Preallocated guest RAM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 / −0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0010 Runstate requests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 / −1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0011 TCG RW/RX mapping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 / −1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0012 GICv3-only CPU setup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 / −0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0013 Shared Cortex-A72 definition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+62 / −62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0014 Linux user execution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+86 / −13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0015 Native host CPU model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 / −1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0016 Fractional counter rates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+26 / −52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62B9213-E967-4876-9F41-3658D784F7FC}"/>
              </a:ext>
            </a:extLst>
          </p:cNvPr>
          <p:cNvGraphicFramePr/>
          <p:nvPr/>
        </p:nvGraphicFramePr>
        <p:xfrm>
          <a:off xmlns:a="http://schemas.openxmlformats.org/drawingml/2006/main" x="6362700" y="1952625"/>
          <a:ext xmlns:a="http://schemas.openxmlformats.org/drawingml/2006/main" cx="5305425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33725"/>
                <a:gridCol w="666750"/>
                <a:gridCol w="1504950"/>
              </a:tblGrid>
              <a:tr h="257175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补丁 / 范围</a:t>
                      </a:r>
                    </a:p>
                  </a:txBody>
                  <a:tcPr marL="76200" marR="76200" marT="0" marB="0" anchor="ctr">
                    <a:solidFill>
                      <a:srgbClr val="B1270A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文件数</a:t>
                      </a:r>
                    </a:p>
                  </a:txBody>
                  <a:tcPr marL="76200" marR="76200" marT="0" marB="0" anchor="ctr">
                    <a:solidFill>
                      <a:srgbClr val="B1270A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/ 删除行</a:t>
                      </a:r>
                    </a:p>
                  </a:txBody>
                  <a:tcPr marL="76200" marR="76200" marT="0" marB="0" anchor="ctr">
                    <a:solidFill>
                      <a:srgbClr val="B1270A"/>
                    </a:solidFill>
                  </a:tcPr>
                </a:tc>
              </a:tr>
              <a:tr h="32385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0001 Non-VHE EL2 host startup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+71 / −2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0002 EL2 Stage-1 translation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+122 / −7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32385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0003 EL2 exceptions/thread state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+19 / −7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0004 Hypervisor timer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+39 / −1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32385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0005 Lazy FPU ownership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+45 / −42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0006 Native guest executor hooks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 / −1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32385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0007 Ext2 read-only inode sync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 / −0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0008 ARM64 interrupt metadata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 / −1</a:t>
                      </a:r>
                    </a:p>
                  </a:txBody>
                  <a:tcPr marL="76200" marR="76200" marT="0" marB="0" anchor="ctr">
                    <a:solidFill>
                      <a:srgbClr val="F7F5F3"/>
                    </a:solidFill>
                  </a:tcPr>
                </a:tc>
              </a:tr>
              <a:tr h="323850"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90" b="1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0009 Runtime counter frequency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9525" rIns="76200" bIns="95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990" b="0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+21 / −1</a:t>
                      </a:r>
                    </a:p>
                  </a:txBody>
                  <a:tcPr marL="7620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4793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1"/>
            </a:lvl1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能力范围</a:t>
            </a:r>
          </a:p>
        </p:txBody>
      </p:sp>
      <p:sp>
        <p:nvSpPr>
          <p:cNvPr id="2" name="capability-card-0">
            <a:extLst xmlns:a="http://schemas.openxmlformats.org/drawingml/2006/main">
              <a:ext uri="{FF2B5EF4-FFF2-40B4-BE49-F238E27FC236}">
                <a16:creationId xmlns:a16="http://schemas.microsoft.com/office/drawing/2014/main" id="{07C9412F-7BAE-4D4E-974B-21547800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3581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2383">
            <a:solidFill>
              <a:srgbClr val="D7D7D7"/>
            </a:solidFill>
            <a:prstDash val="solid"/>
          </a:ln>
        </p:spPr>
      </p:sp>
      <p:sp>
        <p:nvSpPr>
          <p:cNvPr id="3" name="icon-code-text">
            <a:extLst xmlns:a="http://schemas.openxmlformats.org/drawingml/2006/main">
              <a:ext uri="{FF2B5EF4-FFF2-40B4-BE49-F238E27FC236}">
                <a16:creationId xmlns:a16="http://schemas.microsoft.com/office/drawing/2014/main" id="{0065C2D3-15BB-401E-8631-406BE2B3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3528"/>
            <a:ext cx="366141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9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9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&lt;/&gt;</a:t>
            </a:r>
          </a:p>
        </p:txBody>
      </p:sp>
      <p:sp>
        <p:nvSpPr>
          <p:cNvPr id="4" name="capability-title-0">
            <a:extLst xmlns:a="http://schemas.openxmlformats.org/drawingml/2006/main">
              <a:ext uri="{FF2B5EF4-FFF2-40B4-BE49-F238E27FC236}">
                <a16:creationId xmlns:a16="http://schemas.microsoft.com/office/drawing/2014/main" id="{B37D4A3A-3D0F-4D3D-96B4-4A3E4EA9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4305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System TCG</a:t>
            </a:r>
          </a:p>
        </p:txBody>
      </p:sp>
      <p:sp>
        <p:nvSpPr>
          <p:cNvPr id="5" name="capability-detail-0">
            <a:extLst xmlns:a="http://schemas.openxmlformats.org/drawingml/2006/main">
              <a:ext uri="{FF2B5EF4-FFF2-40B4-BE49-F238E27FC236}">
                <a16:creationId xmlns:a16="http://schemas.microsoft.com/office/drawing/2014/main" id="{613C99F8-C64B-4401-A2A6-51784F78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2099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EL1 软件翻译 · software TLB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RW/RX 分离的 16 MiB JIT 缓冲区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Linux kernel / EL1 固件</a:t>
            </a:r>
          </a:p>
        </p:txBody>
      </p:sp>
      <p:sp>
        <p:nvSpPr>
          <p:cNvPr id="6" name="capability-card-1">
            <a:extLst xmlns:a="http://schemas.openxmlformats.org/drawingml/2006/main">
              <a:ext uri="{FF2B5EF4-FFF2-40B4-BE49-F238E27FC236}">
                <a16:creationId xmlns:a16="http://schemas.microsoft.com/office/drawing/2014/main" id="{8BFB4F46-FCA6-405B-BDCE-6F49753D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81125"/>
            <a:ext cx="3581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2383">
            <a:solidFill>
              <a:srgbClr val="D7D7D7"/>
            </a:solidFill>
            <a:prstDash val="solid"/>
          </a:ln>
        </p:spPr>
      </p:sp>
      <p:sp>
        <p:nvSpPr>
          <p:cNvPr id="7" name="icon-cpu-body">
            <a:extLst xmlns:a="http://schemas.openxmlformats.org/drawingml/2006/main">
              <a:ext uri="{FF2B5EF4-FFF2-40B4-BE49-F238E27FC236}">
                <a16:creationId xmlns:a16="http://schemas.microsoft.com/office/drawing/2014/main" id="{D3FB1C06-314F-4755-9A36-3E448BBF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850" y="1571244"/>
            <a:ext cx="248031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811">
            <a:solidFill>
              <a:srgbClr val="B1270A"/>
            </a:solidFill>
            <a:prstDash val="solid"/>
          </a:ln>
        </p:spPr>
      </p:sp>
      <p:sp>
        <p:nvSpPr>
          <p:cNvPr id="8" name="icon-cpu-core">
            <a:extLst xmlns:a="http://schemas.openxmlformats.org/drawingml/2006/main">
              <a:ext uri="{FF2B5EF4-FFF2-40B4-BE49-F238E27FC236}">
                <a16:creationId xmlns:a16="http://schemas.microsoft.com/office/drawing/2014/main" id="{F8322522-55ED-423B-877A-02A84329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1624394"/>
            <a:ext cx="118110" cy="1062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E2"/>
          </a:solidFill>
          <a:ln xmlns:a="http://schemas.openxmlformats.org/drawingml/2006/main" w="11811">
            <a:solidFill>
              <a:srgbClr val="B1270A"/>
            </a:solidFill>
            <a:prstDash val="solid"/>
          </a:ln>
        </p:spPr>
      </p:sp>
      <p:sp>
        <p:nvSpPr>
          <p:cNvPr id="9" name="icon-cpu-top-16">
            <a:extLst xmlns:a="http://schemas.openxmlformats.org/drawingml/2006/main">
              <a:ext uri="{FF2B5EF4-FFF2-40B4-BE49-F238E27FC236}">
                <a16:creationId xmlns:a16="http://schemas.microsoft.com/office/drawing/2014/main" id="{0BCD204B-2B4C-4EC1-A332-BC873023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52188" y="1529906"/>
            <a:ext cx="0" cy="41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0" name="icon-cpu-bottom-16">
            <a:extLst xmlns:a="http://schemas.openxmlformats.org/drawingml/2006/main">
              <a:ext uri="{FF2B5EF4-FFF2-40B4-BE49-F238E27FC236}">
                <a16:creationId xmlns:a16="http://schemas.microsoft.com/office/drawing/2014/main" id="{96BC562C-80E0-48B2-806F-2F1DFAD0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52188" y="1783842"/>
            <a:ext cx="0" cy="41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1" name="icon-cpu-left-16">
            <a:extLst xmlns:a="http://schemas.openxmlformats.org/drawingml/2006/main">
              <a:ext uri="{FF2B5EF4-FFF2-40B4-BE49-F238E27FC236}">
                <a16:creationId xmlns:a16="http://schemas.microsoft.com/office/drawing/2014/main" id="{1676B889-BA26-4F07-AD33-CDAB8B87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69511" y="1571244"/>
            <a:ext cx="413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2" name="icon-cpu-right-16">
            <a:extLst xmlns:a="http://schemas.openxmlformats.org/drawingml/2006/main">
              <a:ext uri="{FF2B5EF4-FFF2-40B4-BE49-F238E27FC236}">
                <a16:creationId xmlns:a16="http://schemas.microsoft.com/office/drawing/2014/main" id="{D6244999-5B1C-4819-8746-468478B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58881" y="1571244"/>
            <a:ext cx="413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3" name="icon-cpu-top-27">
            <a:extLst xmlns:a="http://schemas.openxmlformats.org/drawingml/2006/main">
              <a:ext uri="{FF2B5EF4-FFF2-40B4-BE49-F238E27FC236}">
                <a16:creationId xmlns:a16="http://schemas.microsoft.com/office/drawing/2014/main" id="{EDBCAECE-1668-42EB-A691-9DC22793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17149" y="1529906"/>
            <a:ext cx="0" cy="41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4" name="icon-cpu-bottom-27">
            <a:extLst xmlns:a="http://schemas.openxmlformats.org/drawingml/2006/main">
              <a:ext uri="{FF2B5EF4-FFF2-40B4-BE49-F238E27FC236}">
                <a16:creationId xmlns:a16="http://schemas.microsoft.com/office/drawing/2014/main" id="{13A9A445-851B-444F-8728-C42CCBD8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17149" y="1783842"/>
            <a:ext cx="0" cy="41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5" name="icon-cpu-left-27">
            <a:extLst xmlns:a="http://schemas.openxmlformats.org/drawingml/2006/main">
              <a:ext uri="{FF2B5EF4-FFF2-40B4-BE49-F238E27FC236}">
                <a16:creationId xmlns:a16="http://schemas.microsoft.com/office/drawing/2014/main" id="{E84A21EE-A7E4-4B94-AC95-98C4A580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69511" y="1636205"/>
            <a:ext cx="413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6" name="icon-cpu-right-27">
            <a:extLst xmlns:a="http://schemas.openxmlformats.org/drawingml/2006/main">
              <a:ext uri="{FF2B5EF4-FFF2-40B4-BE49-F238E27FC236}">
                <a16:creationId xmlns:a16="http://schemas.microsoft.com/office/drawing/2014/main" id="{F256DE6B-5D7F-4D87-823C-23F98F2B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58881" y="1636205"/>
            <a:ext cx="413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7" name="icon-cpu-top-38">
            <a:extLst xmlns:a="http://schemas.openxmlformats.org/drawingml/2006/main">
              <a:ext uri="{FF2B5EF4-FFF2-40B4-BE49-F238E27FC236}">
                <a16:creationId xmlns:a16="http://schemas.microsoft.com/office/drawing/2014/main" id="{C011A9A8-2F93-4F09-805F-AE652A9E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82109" y="1529906"/>
            <a:ext cx="0" cy="41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8" name="icon-cpu-bottom-38">
            <a:extLst xmlns:a="http://schemas.openxmlformats.org/drawingml/2006/main">
              <a:ext uri="{FF2B5EF4-FFF2-40B4-BE49-F238E27FC236}">
                <a16:creationId xmlns:a16="http://schemas.microsoft.com/office/drawing/2014/main" id="{BED36DEA-F8DE-4FC6-BDCD-BD36CF2B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82109" y="1783842"/>
            <a:ext cx="0" cy="41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19" name="icon-cpu-left-38">
            <a:extLst xmlns:a="http://schemas.openxmlformats.org/drawingml/2006/main">
              <a:ext uri="{FF2B5EF4-FFF2-40B4-BE49-F238E27FC236}">
                <a16:creationId xmlns:a16="http://schemas.microsoft.com/office/drawing/2014/main" id="{C8C9A55D-5A2D-4B25-824C-A44E2737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69511" y="1701165"/>
            <a:ext cx="413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20" name="icon-cpu-right-38">
            <a:extLst xmlns:a="http://schemas.openxmlformats.org/drawingml/2006/main">
              <a:ext uri="{FF2B5EF4-FFF2-40B4-BE49-F238E27FC236}">
                <a16:creationId xmlns:a16="http://schemas.microsoft.com/office/drawing/2014/main" id="{55B20FFC-9642-4BC9-897F-C1BC6EEC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58881" y="1701165"/>
            <a:ext cx="413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21" name="capability-title-1">
            <a:extLst xmlns:a="http://schemas.openxmlformats.org/drawingml/2006/main">
              <a:ext uri="{FF2B5EF4-FFF2-40B4-BE49-F238E27FC236}">
                <a16:creationId xmlns:a16="http://schemas.microsoft.com/office/drawing/2014/main" id="{7B0DFF84-0EB3-4CC3-9F19-A6BC4209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4305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Native EL2  ·  ZHV</a:t>
            </a:r>
          </a:p>
        </p:txBody>
      </p:sp>
      <p:sp>
        <p:nvSpPr>
          <p:cNvPr id="22" name="capability-detail-1">
            <a:extLst xmlns:a="http://schemas.openxmlformats.org/drawingml/2006/main">
              <a:ext uri="{FF2B5EF4-FFF2-40B4-BE49-F238E27FC236}">
                <a16:creationId xmlns:a16="http://schemas.microsoft.com/office/drawing/2014/main" id="{B06AEBA9-A682-424D-88B1-1A16D960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19300"/>
            <a:ext cx="32099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non-VHE EL2 原生 guest entry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Stage-2 · exception/MMIO traps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CNTHP timer · 自研执行器</a:t>
            </a:r>
          </a:p>
        </p:txBody>
      </p:sp>
      <p:sp>
        <p:nvSpPr>
          <p:cNvPr id="23" name="capability-card-2">
            <a:extLst xmlns:a="http://schemas.openxmlformats.org/drawingml/2006/main">
              <a:ext uri="{FF2B5EF4-FFF2-40B4-BE49-F238E27FC236}">
                <a16:creationId xmlns:a16="http://schemas.microsoft.com/office/drawing/2014/main" id="{CF4C0A0C-8480-4D5E-AA2D-5251FB6B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81125"/>
            <a:ext cx="3581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2383">
            <a:solidFill>
              <a:srgbClr val="D7D7D7"/>
            </a:solidFill>
            <a:prstDash val="solid"/>
          </a:ln>
        </p:spPr>
      </p:sp>
      <p:sp>
        <p:nvSpPr>
          <p:cNvPr id="24" name="icon-terminal-shell">
            <a:extLst xmlns:a="http://schemas.openxmlformats.org/drawingml/2006/main">
              <a:ext uri="{FF2B5EF4-FFF2-40B4-BE49-F238E27FC236}">
                <a16:creationId xmlns:a16="http://schemas.microsoft.com/office/drawing/2014/main" id="{39B0ED6A-1416-4B85-8C5B-D8083AB9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222" y="1553528"/>
            <a:ext cx="307086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811">
            <a:solidFill>
              <a:srgbClr val="B1270A"/>
            </a:solidFill>
            <a:prstDash val="solid"/>
          </a:ln>
        </p:spPr>
      </p:sp>
      <p:sp>
        <p:nvSpPr>
          <p:cNvPr id="25" name="icon-terminal-header">
            <a:extLst xmlns:a="http://schemas.openxmlformats.org/drawingml/2006/main">
              <a:ext uri="{FF2B5EF4-FFF2-40B4-BE49-F238E27FC236}">
                <a16:creationId xmlns:a16="http://schemas.microsoft.com/office/drawing/2014/main" id="{FEE7687E-E71B-4971-9CE3-A5A5B980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53222" y="1612583"/>
            <a:ext cx="3070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26" name="icon-terminal-prompt-a">
            <a:extLst xmlns:a="http://schemas.openxmlformats.org/drawingml/2006/main">
              <a:ext uri="{FF2B5EF4-FFF2-40B4-BE49-F238E27FC236}">
                <a16:creationId xmlns:a16="http://schemas.microsoft.com/office/drawing/2014/main" id="{D56CF91E-C6B3-4B96-9A6B-26F8E11D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12277" y="1671638"/>
            <a:ext cx="41339" cy="35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27" name="icon-terminal-prompt-b">
            <a:extLst xmlns:a="http://schemas.openxmlformats.org/drawingml/2006/main">
              <a:ext uri="{FF2B5EF4-FFF2-40B4-BE49-F238E27FC236}">
                <a16:creationId xmlns:a16="http://schemas.microsoft.com/office/drawing/2014/main" id="{F37DC80E-8958-4127-8149-3EFE7CB5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12277" y="1707071"/>
            <a:ext cx="41339" cy="35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28" name="icon-terminal-cursor">
            <a:extLst xmlns:a="http://schemas.openxmlformats.org/drawingml/2006/main">
              <a:ext uri="{FF2B5EF4-FFF2-40B4-BE49-F238E27FC236}">
                <a16:creationId xmlns:a16="http://schemas.microsoft.com/office/drawing/2014/main" id="{047F0621-E6A7-4062-B7E9-36EBA33B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94954" y="1742504"/>
            <a:ext cx="708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29" name="capability-title-2">
            <a:extLst xmlns:a="http://schemas.openxmlformats.org/drawingml/2006/main">
              <a:ext uri="{FF2B5EF4-FFF2-40B4-BE49-F238E27FC236}">
                <a16:creationId xmlns:a16="http://schemas.microsoft.com/office/drawing/2014/main" id="{F978EFE4-9FE2-4103-A4E5-B043875B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4305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Linux user TCG</a:t>
            </a:r>
          </a:p>
        </p:txBody>
      </p:sp>
      <p:sp>
        <p:nvSpPr>
          <p:cNvPr id="30" name="capability-detail-2">
            <a:extLst xmlns:a="http://schemas.openxmlformats.org/drawingml/2006/main">
              <a:ext uri="{FF2B5EF4-FFF2-40B4-BE49-F238E27FC236}">
                <a16:creationId xmlns:a16="http://schemas.microsoft.com/office/drawing/2014/main" id="{84E0D5C3-0875-4144-982B-B69B8A6B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32099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静态 AArch64 Linux ELF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64 MiB · 单进程 · 单线程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Linux syscall → Zephyr adapter</a:t>
            </a:r>
          </a:p>
        </p:txBody>
      </p:sp>
      <p:sp>
        <p:nvSpPr>
          <p:cNvPr id="31" name="capability-card-3">
            <a:extLst xmlns:a="http://schemas.openxmlformats.org/drawingml/2006/main">
              <a:ext uri="{FF2B5EF4-FFF2-40B4-BE49-F238E27FC236}">
                <a16:creationId xmlns:a16="http://schemas.microsoft.com/office/drawing/2014/main" id="{66771262-4016-4957-BFA2-D92F088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3581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2383">
            <a:solidFill>
              <a:srgbClr val="D7D7D7"/>
            </a:solidFill>
            <a:prstDash val="solid"/>
          </a:ln>
        </p:spPr>
      </p:sp>
      <p:sp>
        <p:nvSpPr>
          <p:cNvPr id="32" name="icon-device-main">
            <a:extLst xmlns:a="http://schemas.openxmlformats.org/drawingml/2006/main">
              <a:ext uri="{FF2B5EF4-FFF2-40B4-BE49-F238E27FC236}">
                <a16:creationId xmlns:a16="http://schemas.microsoft.com/office/drawing/2014/main" id="{4F21496C-5618-4235-A40A-9C9E7435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39" y="3559683"/>
            <a:ext cx="259842" cy="188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811">
            <a:solidFill>
              <a:srgbClr val="B1270A"/>
            </a:solidFill>
            <a:prstDash val="solid"/>
          </a:ln>
        </p:spPr>
      </p:sp>
      <p:sp>
        <p:nvSpPr>
          <p:cNvPr id="33" name="icon-device-foot-a">
            <a:extLst xmlns:a="http://schemas.openxmlformats.org/drawingml/2006/main">
              <a:ext uri="{FF2B5EF4-FFF2-40B4-BE49-F238E27FC236}">
                <a16:creationId xmlns:a16="http://schemas.microsoft.com/office/drawing/2014/main" id="{DAE00B7B-DF21-4F5F-9CAE-EC6877AC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2099" y="3784092"/>
            <a:ext cx="1299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34" name="icon-device-foot-b">
            <a:extLst xmlns:a="http://schemas.openxmlformats.org/drawingml/2006/main">
              <a:ext uri="{FF2B5EF4-FFF2-40B4-BE49-F238E27FC236}">
                <a16:creationId xmlns:a16="http://schemas.microsoft.com/office/drawing/2014/main" id="{D7973F63-0BF1-4725-925E-A96CC524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7060" y="3748659"/>
            <a:ext cx="0" cy="35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35" name="icon-device-led-a">
            <a:extLst xmlns:a="http://schemas.openxmlformats.org/drawingml/2006/main">
              <a:ext uri="{FF2B5EF4-FFF2-40B4-BE49-F238E27FC236}">
                <a16:creationId xmlns:a16="http://schemas.microsoft.com/office/drawing/2014/main" id="{26B49FDA-4805-4E7C-8312-5907F1E1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77" y="3601022"/>
            <a:ext cx="29528" cy="29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270A"/>
          </a:solidFill>
          <a:ln xmlns:a="http://schemas.openxmlformats.org/drawingml/2006/main" w="11811">
            <a:solidFill>
              <a:srgbClr val="B1270A"/>
            </a:solidFill>
            <a:prstDash val="solid"/>
          </a:ln>
        </p:spPr>
      </p:sp>
      <p:sp>
        <p:nvSpPr>
          <p:cNvPr id="36" name="icon-device-led-b">
            <a:extLst xmlns:a="http://schemas.openxmlformats.org/drawingml/2006/main">
              <a:ext uri="{FF2B5EF4-FFF2-40B4-BE49-F238E27FC236}">
                <a16:creationId xmlns:a16="http://schemas.microsoft.com/office/drawing/2014/main" id="{2E78A3D6-C9AB-4498-8D53-E3F04B24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8" y="3601022"/>
            <a:ext cx="29528" cy="29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11811">
            <a:solidFill>
              <a:srgbClr val="B1270A"/>
            </a:solidFill>
            <a:prstDash val="solid"/>
          </a:ln>
        </p:spPr>
      </p:sp>
      <p:sp>
        <p:nvSpPr>
          <p:cNvPr id="37" name="capability-title-3">
            <a:extLst xmlns:a="http://schemas.openxmlformats.org/drawingml/2006/main">
              <a:ext uri="{FF2B5EF4-FFF2-40B4-BE49-F238E27FC236}">
                <a16:creationId xmlns:a16="http://schemas.microsoft.com/office/drawing/2014/main" id="{3DACBE9C-187D-48A4-8C8D-64884BCF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System machine</a:t>
            </a:r>
          </a:p>
        </p:txBody>
      </p:sp>
      <p:sp>
        <p:nvSpPr>
          <p:cNvPr id="38" name="capability-detail-3">
            <a:extLst xmlns:a="http://schemas.openxmlformats.org/drawingml/2006/main">
              <a:ext uri="{FF2B5EF4-FFF2-40B4-BE49-F238E27FC236}">
                <a16:creationId xmlns:a16="http://schemas.microsoft.com/office/drawing/2014/main" id="{1E508262-A09D-4C78-BFFB-3BE7D7F2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32099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Cortex-A53 / A57 / A72 / host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PL011 · software GICv3 · timer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DTB · Linux / ELF image loader</a:t>
            </a:r>
          </a:p>
        </p:txBody>
      </p:sp>
      <p:sp>
        <p:nvSpPr>
          <p:cNvPr id="39" name="capability-card-4">
            <a:extLst xmlns:a="http://schemas.openxmlformats.org/drawingml/2006/main">
              <a:ext uri="{FF2B5EF4-FFF2-40B4-BE49-F238E27FC236}">
                <a16:creationId xmlns:a16="http://schemas.microsoft.com/office/drawing/2014/main" id="{650E88AE-6781-4EF4-B8E8-AAFF48DF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581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2383">
            <a:solidFill>
              <a:srgbClr val="D7D7D7"/>
            </a:solidFill>
            <a:prstDash val="solid"/>
          </a:ln>
        </p:spPr>
      </p:sp>
      <p:sp>
        <p:nvSpPr>
          <p:cNvPr id="40" name="icon-file-sheet">
            <a:extLst xmlns:a="http://schemas.openxmlformats.org/drawingml/2006/main">
              <a:ext uri="{FF2B5EF4-FFF2-40B4-BE49-F238E27FC236}">
                <a16:creationId xmlns:a16="http://schemas.microsoft.com/office/drawing/2014/main" id="{ABA9F595-5811-4689-BD7C-918E6F0E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553778"/>
            <a:ext cx="206693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811">
            <a:solidFill>
              <a:srgbClr val="B1270A"/>
            </a:solidFill>
            <a:prstDash val="solid"/>
          </a:ln>
        </p:spPr>
      </p:sp>
      <p:sp>
        <p:nvSpPr>
          <p:cNvPr id="41" name="icon-file-row-1">
            <a:extLst xmlns:a="http://schemas.openxmlformats.org/drawingml/2006/main">
              <a:ext uri="{FF2B5EF4-FFF2-40B4-BE49-F238E27FC236}">
                <a16:creationId xmlns:a16="http://schemas.microsoft.com/office/drawing/2014/main" id="{2C9D4453-0815-4A55-83FC-BF5D12F1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58094" y="3630549"/>
            <a:ext cx="1181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42" name="icon-file-row-2">
            <a:extLst xmlns:a="http://schemas.openxmlformats.org/drawingml/2006/main">
              <a:ext uri="{FF2B5EF4-FFF2-40B4-BE49-F238E27FC236}">
                <a16:creationId xmlns:a16="http://schemas.microsoft.com/office/drawing/2014/main" id="{67EE4EE3-0FD2-41F7-88C9-1EDC6F98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58094" y="3683699"/>
            <a:ext cx="1181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43" name="icon-file-row-3">
            <a:extLst xmlns:a="http://schemas.openxmlformats.org/drawingml/2006/main">
              <a:ext uri="{FF2B5EF4-FFF2-40B4-BE49-F238E27FC236}">
                <a16:creationId xmlns:a16="http://schemas.microsoft.com/office/drawing/2014/main" id="{0352025D-7A16-4D98-B15C-9CFFE70E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58094" y="3736848"/>
            <a:ext cx="94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44" name="capability-title-4">
            <a:extLst xmlns:a="http://schemas.openxmlformats.org/drawingml/2006/main">
              <a:ext uri="{FF2B5EF4-FFF2-40B4-BE49-F238E27FC236}">
                <a16:creationId xmlns:a16="http://schemas.microsoft.com/office/drawing/2014/main" id="{F1E41A08-4F2E-4B35-814A-65DB7655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54330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Storage  ·  VirtIO</a:t>
            </a:r>
          </a:p>
        </p:txBody>
      </p:sp>
      <p:sp>
        <p:nvSpPr>
          <p:cNvPr id="45" name="capability-detail-4">
            <a:extLst xmlns:a="http://schemas.openxmlformats.org/drawingml/2006/main">
              <a:ext uri="{FF2B5EF4-FFF2-40B4-BE49-F238E27FC236}">
                <a16:creationId xmlns:a16="http://schemas.microsoft.com/office/drawing/2014/main" id="{082D5D46-69F8-4752-8228-58BE7341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32099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VirtIO / Ext2：/images 启动文件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NanoJev 根镜像：只读 pmem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客体 VirtIO 设备模型未实现</a:t>
            </a:r>
          </a:p>
        </p:txBody>
      </p:sp>
      <p:sp>
        <p:nvSpPr>
          <p:cNvPr id="46" name="capability-card-5">
            <a:extLst xmlns:a="http://schemas.openxmlformats.org/drawingml/2006/main">
              <a:ext uri="{FF2B5EF4-FFF2-40B4-BE49-F238E27FC236}">
                <a16:creationId xmlns:a16="http://schemas.microsoft.com/office/drawing/2014/main" id="{B8CE67DF-08F1-4C65-BC77-86469059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81375"/>
            <a:ext cx="3581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2383">
            <a:solidFill>
              <a:srgbClr val="D7D7D7"/>
            </a:solidFill>
            <a:prstDash val="solid"/>
          </a:ln>
        </p:spPr>
      </p:sp>
      <p:sp>
        <p:nvSpPr>
          <p:cNvPr id="47" name="icon-layer-back">
            <a:extLst xmlns:a="http://schemas.openxmlformats.org/drawingml/2006/main">
              <a:ext uri="{FF2B5EF4-FFF2-40B4-BE49-F238E27FC236}">
                <a16:creationId xmlns:a16="http://schemas.microsoft.com/office/drawing/2014/main" id="{11773F1D-9125-4C43-A7CE-072A9D7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371" y="3553778"/>
            <a:ext cx="218504" cy="1830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1811">
            <a:solidFill>
              <a:srgbClr val="B1270A"/>
            </a:solidFill>
            <a:prstDash val="solid"/>
          </a:ln>
        </p:spPr>
      </p:sp>
      <p:sp>
        <p:nvSpPr>
          <p:cNvPr id="48" name="icon-layer-front">
            <a:extLst xmlns:a="http://schemas.openxmlformats.org/drawingml/2006/main">
              <a:ext uri="{FF2B5EF4-FFF2-40B4-BE49-F238E27FC236}">
                <a16:creationId xmlns:a16="http://schemas.microsoft.com/office/drawing/2014/main" id="{0177B189-B65B-485A-B4BE-3F74C4FE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28" y="3618738"/>
            <a:ext cx="218504" cy="1830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811">
            <a:solidFill>
              <a:srgbClr val="B1270A"/>
            </a:solidFill>
            <a:prstDash val="solid"/>
          </a:ln>
        </p:spPr>
      </p:sp>
      <p:sp>
        <p:nvSpPr>
          <p:cNvPr id="49" name="icon-layer-row-a">
            <a:extLst xmlns:a="http://schemas.openxmlformats.org/drawingml/2006/main">
              <a:ext uri="{FF2B5EF4-FFF2-40B4-BE49-F238E27FC236}">
                <a16:creationId xmlns:a16="http://schemas.microsoft.com/office/drawing/2014/main" id="{B055680E-4793-492E-8AB9-C21EA49A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00466" y="3677793"/>
            <a:ext cx="1299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50" name="icon-layer-row-b">
            <a:extLst xmlns:a="http://schemas.openxmlformats.org/drawingml/2006/main">
              <a:ext uri="{FF2B5EF4-FFF2-40B4-BE49-F238E27FC236}">
                <a16:creationId xmlns:a16="http://schemas.microsoft.com/office/drawing/2014/main" id="{1AF2BBF8-443F-47B8-B333-BDE040D2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00466" y="3725037"/>
            <a:ext cx="1062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B1270A"/>
            </a:solidFill>
            <a:prstDash val="solid"/>
          </a:ln>
        </p:spPr>
      </p:sp>
      <p:sp>
        <p:nvSpPr>
          <p:cNvPr id="51" name="capability-title-5">
            <a:extLst xmlns:a="http://schemas.openxmlformats.org/drawingml/2006/main">
              <a:ext uri="{FF2B5EF4-FFF2-40B4-BE49-F238E27FC236}">
                <a16:creationId xmlns:a16="http://schemas.microsoft.com/office/drawing/2014/main" id="{F3E56903-6E60-41E8-9076-231A77AA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54330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Linux desktop</a:t>
            </a:r>
          </a:p>
        </p:txBody>
      </p:sp>
      <p:sp>
        <p:nvSpPr>
          <p:cNvPr id="52" name="capability-detail-5">
            <a:extLst xmlns:a="http://schemas.openxmlformats.org/drawingml/2006/main">
              <a:ext uri="{FF2B5EF4-FFF2-40B4-BE49-F238E27FC236}">
                <a16:creationId xmlns:a16="http://schemas.microsoft.com/office/drawing/2014/main" id="{21BC473A-7265-449E-A063-FC6DBC6F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32099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Alpine / Debian · Xorg/fbdev · JWM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xterm · xclock · NanoJev CPU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800×600 / 1024×768 framebuffer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通过串口 xdotool 控制键鼠</a:t>
            </a:r>
          </a:p>
        </p:txBody>
      </p:sp>
      <p:sp>
        <p:nvSpPr>
          <p:cNvPr id="53" name="boundary-rule">
            <a:extLst xmlns:a="http://schemas.openxmlformats.org/drawingml/2006/main">
              <a:ext uri="{FF2B5EF4-FFF2-40B4-BE49-F238E27FC236}">
                <a16:creationId xmlns:a16="http://schemas.microsoft.com/office/drawing/2014/main" id="{6876C379-387C-404A-86D1-64B4402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391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54" name="boundary-summary">
            <a:extLst xmlns:a="http://schemas.openxmlformats.org/drawingml/2006/main">
              <a:ext uri="{FF2B5EF4-FFF2-40B4-BE49-F238E27FC236}">
                <a16:creationId xmlns:a16="http://schemas.microsoft.com/office/drawing/2014/main" id="{E80B0A4F-EC5A-44A0-AC41-0736AAB8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054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当前范围：System Mode 单 VM / 单 vCPU；User Mode 仅支持静态、单进程、单线程 ELF；客体 VirtIO 设备模型未实现</a:t>
            </a:r>
          </a:p>
        </p:txBody>
      </p:sp>
    </p:spTree>
    <p:extLst>
      <p:ext uri="{BB962C8B-B14F-4D97-AF65-F5344CB8AC3E}">
        <p14:creationId xmlns:p14="http://schemas.microsoft.com/office/powerpoint/2010/main" val="6992479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481E83-EC99-4811-809E-191CF07115E4}"/>
              </a:ext>
            </a:extLst>
          </p:cNvPr>
          <p:cNvCxnSpPr>
            <a:stCxn xmlns:a="http://schemas.openxmlformats.org/drawingml/2006/main" id="16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7810500" y="21526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BE5C8-B917-4BBD-BF74-FC51ACBCCF0E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5057775" y="21526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FC5538-4706-4612-9B2C-42D6DB1C4C12}"/>
              </a:ext>
            </a:extLst>
          </p:cNvPr>
          <p:cNvCxnSpPr>
            <a:stCxn xmlns:a="http://schemas.openxmlformats.org/drawingml/2006/main" id="2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305050" y="21526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sp>
        <p:nvSpPr>
          <p:cNvPr id="36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1"/>
            </a:lvl1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Agent 工作流</a:t>
            </a:r>
          </a:p>
        </p:txBody>
      </p:sp>
      <p:sp>
        <p:nvSpPr>
          <p:cNvPr id="2" name="agent-step-0">
            <a:extLst xmlns:a="http://schemas.openxmlformats.org/drawingml/2006/main">
              <a:ext uri="{FF2B5EF4-FFF2-40B4-BE49-F238E27FC236}">
                <a16:creationId xmlns:a16="http://schemas.microsoft.com/office/drawing/2014/main" id="{1A3D358D-C717-4B7F-A884-45FB5056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EC"/>
          </a:solidFill>
          <a:ln xmlns:a="http://schemas.openxmlformats.org/drawingml/2006/main" w="14288">
            <a:solidFill>
              <a:srgbClr val="D4D4D4"/>
            </a:solidFill>
            <a:prstDash val="solid"/>
          </a:ln>
        </p:spPr>
      </p:sp>
      <p:sp>
        <p:nvSpPr>
          <p:cNvPr id="3" name="icon-search-lens">
            <a:extLst xmlns:a="http://schemas.openxmlformats.org/drawingml/2006/main">
              <a:ext uri="{FF2B5EF4-FFF2-40B4-BE49-F238E27FC236}">
                <a16:creationId xmlns:a16="http://schemas.microsoft.com/office/drawing/2014/main" id="{94D92F55-CF8A-4107-838B-D25F4222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" y="1906905"/>
            <a:ext cx="259080" cy="2590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1270A"/>
            </a:solidFill>
            <a:prstDash val="solid"/>
          </a:ln>
        </p:spPr>
      </p:sp>
      <p:sp>
        <p:nvSpPr>
          <p:cNvPr id="4" name="icon-search-handle">
            <a:extLst xmlns:a="http://schemas.openxmlformats.org/drawingml/2006/main">
              <a:ext uri="{FF2B5EF4-FFF2-40B4-BE49-F238E27FC236}">
                <a16:creationId xmlns:a16="http://schemas.microsoft.com/office/drawing/2014/main" id="{2A4572FC-6988-4325-91F4-3E3D82DA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00225" y="2135505"/>
            <a:ext cx="144780" cy="129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1270A"/>
            </a:solidFill>
            <a:prstDash val="solid"/>
          </a:ln>
        </p:spPr>
      </p:sp>
      <p:sp>
        <p:nvSpPr>
          <p:cNvPr id="5" name="agent-step-title-0">
            <a:extLst xmlns:a="http://schemas.openxmlformats.org/drawingml/2006/main">
              <a:ext uri="{FF2B5EF4-FFF2-40B4-BE49-F238E27FC236}">
                <a16:creationId xmlns:a16="http://schemas.microsoft.com/office/drawing/2014/main" id="{A7391F82-D5DF-4CF5-B165-D635CBA7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追踪源码</a:t>
            </a:r>
          </a:p>
        </p:txBody>
      </p:sp>
      <p:sp>
        <p:nvSpPr>
          <p:cNvPr id="6" name="agent-step-detail-0">
            <a:extLst xmlns:a="http://schemas.openxmlformats.org/drawingml/2006/main">
              <a:ext uri="{FF2B5EF4-FFF2-40B4-BE49-F238E27FC236}">
                <a16:creationId xmlns:a16="http://schemas.microsoft.com/office/drawing/2014/main" id="{57BF1DF7-2B29-4361-ADDB-2DF0DAAB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调用点与宿主 POSIX API</a:t>
            </a:r>
          </a:p>
        </p:txBody>
      </p:sp>
      <p:sp>
        <p:nvSpPr>
          <p:cNvPr id="7" name="agent-step-1">
            <a:extLst xmlns:a="http://schemas.openxmlformats.org/drawingml/2006/main">
              <a:ext uri="{FF2B5EF4-FFF2-40B4-BE49-F238E27FC236}">
                <a16:creationId xmlns:a16="http://schemas.microsoft.com/office/drawing/2014/main" id="{062E6627-88F7-429C-9282-9C377F9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573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EC"/>
          </a:solidFill>
          <a:ln xmlns:a="http://schemas.openxmlformats.org/drawingml/2006/main" w="14288">
            <a:solidFill>
              <a:srgbClr val="D4D4D4"/>
            </a:solidFill>
            <a:prstDash val="solid"/>
          </a:ln>
        </p:spPr>
      </p:sp>
      <p:sp>
        <p:nvSpPr>
          <p:cNvPr id="8" name="icon-map-frame">
            <a:extLst xmlns:a="http://schemas.openxmlformats.org/drawingml/2006/main">
              <a:ext uri="{FF2B5EF4-FFF2-40B4-BE49-F238E27FC236}">
                <a16:creationId xmlns:a16="http://schemas.microsoft.com/office/drawing/2014/main" id="{B6FBBB17-ADFB-4D05-8C79-6B3B41CF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1929765"/>
            <a:ext cx="388620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1270A"/>
            </a:solidFill>
            <a:prstDash val="solid"/>
          </a:ln>
        </p:spPr>
      </p:sp>
      <p:sp>
        <p:nvSpPr>
          <p:cNvPr id="9" name="icon-map-fold-1">
            <a:extLst xmlns:a="http://schemas.openxmlformats.org/drawingml/2006/main">
              <a:ext uri="{FF2B5EF4-FFF2-40B4-BE49-F238E27FC236}">
                <a16:creationId xmlns:a16="http://schemas.microsoft.com/office/drawing/2014/main" id="{CCE41100-B29A-41CA-A60E-8050075C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46270" y="1929765"/>
            <a:ext cx="0" cy="289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10" name="icon-map-fold-2">
            <a:extLst xmlns:a="http://schemas.openxmlformats.org/drawingml/2006/main">
              <a:ext uri="{FF2B5EF4-FFF2-40B4-BE49-F238E27FC236}">
                <a16:creationId xmlns:a16="http://schemas.microsoft.com/office/drawing/2014/main" id="{AF7A1473-413A-45C5-9EE8-8ACA9ED0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75810" y="1929765"/>
            <a:ext cx="0" cy="289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11" name="icon-map-path-1">
            <a:extLst xmlns:a="http://schemas.openxmlformats.org/drawingml/2006/main">
              <a:ext uri="{FF2B5EF4-FFF2-40B4-BE49-F238E27FC236}">
                <a16:creationId xmlns:a16="http://schemas.microsoft.com/office/drawing/2014/main" id="{BAD7F47C-09EC-4177-B8AF-1B9E69D7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70070" y="2044065"/>
            <a:ext cx="6858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12" name="icon-map-path-2">
            <a:extLst xmlns:a="http://schemas.openxmlformats.org/drawingml/2006/main">
              <a:ext uri="{FF2B5EF4-FFF2-40B4-BE49-F238E27FC236}">
                <a16:creationId xmlns:a16="http://schemas.microsoft.com/office/drawing/2014/main" id="{3A53343C-321D-48AD-9A17-2001D012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38650" y="2044065"/>
            <a:ext cx="106680" cy="68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13" name="icon-map-path-3">
            <a:extLst xmlns:a="http://schemas.openxmlformats.org/drawingml/2006/main">
              <a:ext uri="{FF2B5EF4-FFF2-40B4-BE49-F238E27FC236}">
                <a16:creationId xmlns:a16="http://schemas.microsoft.com/office/drawing/2014/main" id="{4D6384CE-3B8D-4CA0-9A5F-0845B240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45330" y="1990725"/>
            <a:ext cx="99060" cy="121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14" name="agent-step-title-1">
            <a:extLst xmlns:a="http://schemas.openxmlformats.org/drawingml/2006/main">
              <a:ext uri="{FF2B5EF4-FFF2-40B4-BE49-F238E27FC236}">
                <a16:creationId xmlns:a16="http://schemas.microsoft.com/office/drawing/2014/main" id="{9262B1DA-D0B8-415F-94B1-43623075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整理证据</a:t>
            </a:r>
          </a:p>
        </p:txBody>
      </p:sp>
      <p:sp>
        <p:nvSpPr>
          <p:cNvPr id="15" name="agent-step-detail-1">
            <a:extLst xmlns:a="http://schemas.openxmlformats.org/drawingml/2006/main">
              <a:ext uri="{FF2B5EF4-FFF2-40B4-BE49-F238E27FC236}">
                <a16:creationId xmlns:a16="http://schemas.microsoft.com/office/drawing/2014/main" id="{598E6698-A5D7-44A3-AA54-3A1A0176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POSIX 与依赖清单</a:t>
            </a:r>
          </a:p>
        </p:txBody>
      </p:sp>
      <p:sp>
        <p:nvSpPr>
          <p:cNvPr id="16" name="agent-step-2">
            <a:extLst xmlns:a="http://schemas.openxmlformats.org/drawingml/2006/main">
              <a:ext uri="{FF2B5EF4-FFF2-40B4-BE49-F238E27FC236}">
                <a16:creationId xmlns:a16="http://schemas.microsoft.com/office/drawing/2014/main" id="{E1E94123-3313-4342-B815-6D77AA1F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573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EC"/>
          </a:solidFill>
          <a:ln xmlns:a="http://schemas.openxmlformats.org/drawingml/2006/main" w="14288">
            <a:solidFill>
              <a:srgbClr val="D4D4D4"/>
            </a:solidFill>
            <a:prstDash val="solid"/>
          </a:ln>
        </p:spPr>
      </p:sp>
      <p:sp>
        <p:nvSpPr>
          <p:cNvPr id="17" name="icon-patch-sheet">
            <a:extLst xmlns:a="http://schemas.openxmlformats.org/drawingml/2006/main">
              <a:ext uri="{FF2B5EF4-FFF2-40B4-BE49-F238E27FC236}">
                <a16:creationId xmlns:a16="http://schemas.microsoft.com/office/drawing/2014/main" id="{EEED2670-70D0-41ED-9FE5-E078F7EA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935" y="19145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1270A"/>
            </a:solidFill>
            <a:prstDash val="solid"/>
          </a:ln>
        </p:spPr>
      </p:sp>
      <p:sp>
        <p:nvSpPr>
          <p:cNvPr id="18" name="icon-patch-row-a">
            <a:extLst xmlns:a="http://schemas.openxmlformats.org/drawingml/2006/main">
              <a:ext uri="{FF2B5EF4-FFF2-40B4-BE49-F238E27FC236}">
                <a16:creationId xmlns:a16="http://schemas.microsoft.com/office/drawing/2014/main" id="{A2C49DA7-0B5F-434B-930C-9FCC8DBD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68515" y="2013585"/>
            <a:ext cx="205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19" name="icon-patch-row-b">
            <a:extLst xmlns:a="http://schemas.openxmlformats.org/drawingml/2006/main">
              <a:ext uri="{FF2B5EF4-FFF2-40B4-BE49-F238E27FC236}">
                <a16:creationId xmlns:a16="http://schemas.microsoft.com/office/drawing/2014/main" id="{37899B8C-4629-4F19-AC96-654FF150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68515" y="2082165"/>
            <a:ext cx="106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20" name="icon-patch-plus-h">
            <a:extLst xmlns:a="http://schemas.openxmlformats.org/drawingml/2006/main">
              <a:ext uri="{FF2B5EF4-FFF2-40B4-BE49-F238E27FC236}">
                <a16:creationId xmlns:a16="http://schemas.microsoft.com/office/drawing/2014/main" id="{3C629E61-9EFA-4044-AF35-A0F3D6FE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05675" y="2143125"/>
            <a:ext cx="106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21" name="icon-patch-plus-v">
            <a:extLst xmlns:a="http://schemas.openxmlformats.org/drawingml/2006/main">
              <a:ext uri="{FF2B5EF4-FFF2-40B4-BE49-F238E27FC236}">
                <a16:creationId xmlns:a16="http://schemas.microsoft.com/office/drawing/2014/main" id="{BD27EF43-E4ED-4F51-AD8A-EF91258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59015" y="2089785"/>
            <a:ext cx="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22" name="agent-step-title-2">
            <a:extLst xmlns:a="http://schemas.openxmlformats.org/drawingml/2006/main">
              <a:ext uri="{FF2B5EF4-FFF2-40B4-BE49-F238E27FC236}">
                <a16:creationId xmlns:a16="http://schemas.microsoft.com/office/drawing/2014/main" id="{D0FCDBD2-8966-4707-9924-049C2FBE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编写适配</a:t>
            </a:r>
          </a:p>
        </p:txBody>
      </p:sp>
      <p:sp>
        <p:nvSpPr>
          <p:cNvPr id="23" name="agent-step-detail-2">
            <a:extLst xmlns:a="http://schemas.openxmlformats.org/drawingml/2006/main">
              <a:ext uri="{FF2B5EF4-FFF2-40B4-BE49-F238E27FC236}">
                <a16:creationId xmlns:a16="http://schemas.microsoft.com/office/drawing/2014/main" id="{E147F298-1F79-456D-B6FA-5196F9E8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补丁、脚本和文档</a:t>
            </a:r>
          </a:p>
        </p:txBody>
      </p:sp>
      <p:sp>
        <p:nvSpPr>
          <p:cNvPr id="24" name="agent-step-3">
            <a:extLst xmlns:a="http://schemas.openxmlformats.org/drawingml/2006/main">
              <a:ext uri="{FF2B5EF4-FFF2-40B4-BE49-F238E27FC236}">
                <a16:creationId xmlns:a16="http://schemas.microsoft.com/office/drawing/2014/main" id="{638A5958-5201-4FFA-9239-552357C9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573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EC"/>
          </a:solidFill>
          <a:ln xmlns:a="http://schemas.openxmlformats.org/drawingml/2006/main" w="14288">
            <a:solidFill>
              <a:srgbClr val="D4D4D4"/>
            </a:solidFill>
            <a:prstDash val="solid"/>
          </a:ln>
        </p:spPr>
      </p:sp>
      <p:sp>
        <p:nvSpPr>
          <p:cNvPr id="25" name="icon-check-ring">
            <a:extLst xmlns:a="http://schemas.openxmlformats.org/drawingml/2006/main">
              <a:ext uri="{FF2B5EF4-FFF2-40B4-BE49-F238E27FC236}">
                <a16:creationId xmlns:a16="http://schemas.microsoft.com/office/drawing/2014/main" id="{FFE6EE4A-48B6-4005-9147-06D77BEB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1906905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1270A"/>
            </a:solidFill>
            <a:prstDash val="solid"/>
          </a:ln>
        </p:spPr>
      </p:sp>
      <p:sp>
        <p:nvSpPr>
          <p:cNvPr id="26" name="icon-check-a">
            <a:extLst xmlns:a="http://schemas.openxmlformats.org/drawingml/2006/main">
              <a:ext uri="{FF2B5EF4-FFF2-40B4-BE49-F238E27FC236}">
                <a16:creationId xmlns:a16="http://schemas.microsoft.com/office/drawing/2014/main" id="{083AC6CB-8D5B-4DDE-8AF2-BA37285C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21240" y="2074545"/>
            <a:ext cx="60960" cy="60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1270A"/>
            </a:solidFill>
            <a:prstDash val="solid"/>
          </a:ln>
        </p:spPr>
      </p:sp>
      <p:sp>
        <p:nvSpPr>
          <p:cNvPr id="27" name="icon-check-b">
            <a:extLst xmlns:a="http://schemas.openxmlformats.org/drawingml/2006/main">
              <a:ext uri="{FF2B5EF4-FFF2-40B4-BE49-F238E27FC236}">
                <a16:creationId xmlns:a16="http://schemas.microsoft.com/office/drawing/2014/main" id="{2B28EB14-5D9E-4DC1-8E42-C8EC6B70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82200" y="2005965"/>
            <a:ext cx="121920" cy="129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1270A"/>
            </a:solidFill>
            <a:prstDash val="solid"/>
          </a:ln>
        </p:spPr>
      </p:sp>
      <p:sp>
        <p:nvSpPr>
          <p:cNvPr id="28" name="agent-step-title-3">
            <a:extLst xmlns:a="http://schemas.openxmlformats.org/drawingml/2006/main">
              <a:ext uri="{FF2B5EF4-FFF2-40B4-BE49-F238E27FC236}">
                <a16:creationId xmlns:a16="http://schemas.microsoft.com/office/drawing/2014/main" id="{B90F4FD5-E882-4569-9858-9C8A6023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57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29" name="agent-step-detail-3">
            <a:extLst xmlns:a="http://schemas.openxmlformats.org/drawingml/2006/main">
              <a:ext uri="{FF2B5EF4-FFF2-40B4-BE49-F238E27FC236}">
                <a16:creationId xmlns:a16="http://schemas.microsoft.com/office/drawing/2014/main" id="{C695F5CF-FDBC-45FA-9174-2D5CE7BC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194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回归、构建和 CI</a:t>
            </a:r>
          </a:p>
        </p:txBody>
      </p:sp>
      <p:sp>
        <p:nvSpPr>
          <p:cNvPr id="33" name="agent-role-rule">
            <a:extLst xmlns:a="http://schemas.openxmlformats.org/drawingml/2006/main">
              <a:ext uri="{FF2B5EF4-FFF2-40B4-BE49-F238E27FC236}">
                <a16:creationId xmlns:a16="http://schemas.microsoft.com/office/drawing/2014/main" id="{94D43C6B-3E83-41C2-8979-525722F8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403860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5D5"/>
            </a:solidFill>
            <a:prstDash val="solid"/>
          </a:ln>
        </p:spPr>
      </p:sp>
      <p:sp>
        <p:nvSpPr>
          <p:cNvPr id="34" name="agent-role-title">
            <a:extLst xmlns:a="http://schemas.openxmlformats.org/drawingml/2006/main">
              <a:ext uri="{FF2B5EF4-FFF2-40B4-BE49-F238E27FC236}">
                <a16:creationId xmlns:a16="http://schemas.microsoft.com/office/drawing/2014/main" id="{249151E1-0105-473C-88A1-66560ECF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862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工程师</a:t>
            </a:r>
          </a:p>
        </p:txBody>
      </p:sp>
      <p:sp>
        <p:nvSpPr>
          <p:cNvPr id="35" name="agent-role-detail">
            <a:extLst xmlns:a="http://schemas.openxmlformats.org/drawingml/2006/main">
              <a:ext uri="{FF2B5EF4-FFF2-40B4-BE49-F238E27FC236}">
                <a16:creationId xmlns:a16="http://schemas.microsoft.com/office/drawing/2014/main" id="{541C3586-9879-46EB-AD89-622B8DC6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确定架构与语义，审查补丁并验收运行结果</a:t>
            </a:r>
          </a:p>
        </p:txBody>
      </p:sp>
    </p:spTree>
    <p:extLst>
      <p:ext uri="{BB962C8B-B14F-4D97-AF65-F5344CB8AC3E}">
        <p14:creationId xmlns:p14="http://schemas.microsoft.com/office/powerpoint/2010/main" val="18407511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8A0190-D161-4B6A-802C-641AA9B8DDC8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20100" y="2986088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B8A623-BA8A-410F-8EAD-ED08B9D7269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619750" y="2986088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45AED5-0896-4375-8886-CD20757F1C54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19400" y="2986088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1270A"/>
            </a:solidFill>
            <a:prstDash val="solid"/>
            <a:tailEnd type="triangle" w="sm" len="sm"/>
          </a:ln>
        </p:spPr>
      </p:cxnSp>
      <p:sp>
        <p:nvSpPr>
          <p:cNvPr id="36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1"/>
            </a:lvl1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POSIX 适配 Skills</a:t>
            </a:r>
          </a:p>
        </p:txBody>
      </p:sp>
      <p:sp>
        <p:nvSpPr>
          <p:cNvPr id="2" name="skill-node-0">
            <a:extLst xmlns:a="http://schemas.openxmlformats.org/drawingml/2006/main">
              <a:ext uri="{FF2B5EF4-FFF2-40B4-BE49-F238E27FC236}">
                <a16:creationId xmlns:a16="http://schemas.microsoft.com/office/drawing/2014/main" id="{D3B0FD93-FDD5-4C4E-B684-5EE880B5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52600"/>
            <a:ext cx="2143125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3" name="icon-search-lens">
            <a:extLst xmlns:a="http://schemas.openxmlformats.org/drawingml/2006/main">
              <a:ext uri="{FF2B5EF4-FFF2-40B4-BE49-F238E27FC236}">
                <a16:creationId xmlns:a16="http://schemas.microsoft.com/office/drawing/2014/main" id="{A4E7A909-9F86-4FB6-B6A4-DA42B8CD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574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4" name="icon-search-handle">
            <a:extLst xmlns:a="http://schemas.openxmlformats.org/drawingml/2006/main">
              <a:ext uri="{FF2B5EF4-FFF2-40B4-BE49-F238E27FC236}">
                <a16:creationId xmlns:a16="http://schemas.microsoft.com/office/drawing/2014/main" id="{E53A3550-4690-464A-AF6C-09FBBDC7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81175" y="2343150"/>
            <a:ext cx="18097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1270A"/>
            </a:solidFill>
            <a:prstDash val="solid"/>
          </a:ln>
        </p:spPr>
      </p:sp>
      <p:sp>
        <p:nvSpPr>
          <p:cNvPr id="5" name="skill-name-0">
            <a:extLst xmlns:a="http://schemas.openxmlformats.org/drawingml/2006/main">
              <a:ext uri="{FF2B5EF4-FFF2-40B4-BE49-F238E27FC236}">
                <a16:creationId xmlns:a16="http://schemas.microsoft.com/office/drawing/2014/main" id="{36F1EEAE-8C96-44D1-B835-3CF36A5E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62250"/>
            <a:ext cx="1914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API inventory</a:t>
            </a:r>
          </a:p>
        </p:txBody>
      </p:sp>
      <p:sp>
        <p:nvSpPr>
          <p:cNvPr id="6" name="skill-title-0">
            <a:extLst xmlns:a="http://schemas.openxmlformats.org/drawingml/2006/main">
              <a:ext uri="{FF2B5EF4-FFF2-40B4-BE49-F238E27FC236}">
                <a16:creationId xmlns:a16="http://schemas.microsoft.com/office/drawing/2014/main" id="{BF308465-DCFE-4434-9588-75C76FF1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95625"/>
            <a:ext cx="1914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接口盘点</a:t>
            </a:r>
          </a:p>
        </p:txBody>
      </p:sp>
      <p:sp>
        <p:nvSpPr>
          <p:cNvPr id="7" name="skill-output-0">
            <a:extLst xmlns:a="http://schemas.openxmlformats.org/drawingml/2006/main">
              <a:ext uri="{FF2B5EF4-FFF2-40B4-BE49-F238E27FC236}">
                <a16:creationId xmlns:a16="http://schemas.microsoft.com/office/drawing/2014/main" id="{7511F909-FEBA-4FEA-8220-D11AFB45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43300"/>
            <a:ext cx="183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调用点与使用条件</a:t>
            </a:r>
          </a:p>
        </p:txBody>
      </p:sp>
      <p:sp>
        <p:nvSpPr>
          <p:cNvPr id="8" name="skill-node-1">
            <a:extLst xmlns:a="http://schemas.openxmlformats.org/drawingml/2006/main">
              <a:ext uri="{FF2B5EF4-FFF2-40B4-BE49-F238E27FC236}">
                <a16:creationId xmlns:a16="http://schemas.microsoft.com/office/drawing/2014/main" id="{4CCE5533-0D52-49F1-87B8-A8511119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2143125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9" name="icon-map-frame">
            <a:extLst xmlns:a="http://schemas.openxmlformats.org/drawingml/2006/main">
              <a:ext uri="{FF2B5EF4-FFF2-40B4-BE49-F238E27FC236}">
                <a16:creationId xmlns:a16="http://schemas.microsoft.com/office/drawing/2014/main" id="{EAACC322-A9BB-4DCA-87F7-BFF45EAF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85975"/>
            <a:ext cx="485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10" name="icon-map-fold-1">
            <a:extLst xmlns:a="http://schemas.openxmlformats.org/drawingml/2006/main">
              <a:ext uri="{FF2B5EF4-FFF2-40B4-BE49-F238E27FC236}">
                <a16:creationId xmlns:a16="http://schemas.microsoft.com/office/drawing/2014/main" id="{8A54CEAF-2F94-4642-BE12-46E4C228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48175" y="20859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1270A"/>
            </a:solidFill>
            <a:prstDash val="solid"/>
          </a:ln>
        </p:spPr>
      </p:sp>
      <p:sp>
        <p:nvSpPr>
          <p:cNvPr id="11" name="icon-map-fold-2">
            <a:extLst xmlns:a="http://schemas.openxmlformats.org/drawingml/2006/main">
              <a:ext uri="{FF2B5EF4-FFF2-40B4-BE49-F238E27FC236}">
                <a16:creationId xmlns:a16="http://schemas.microsoft.com/office/drawing/2014/main" id="{4E326FAE-5832-45D8-B5E3-5F6BF38B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10100" y="20859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1270A"/>
            </a:solidFill>
            <a:prstDash val="solid"/>
          </a:ln>
        </p:spPr>
      </p:sp>
      <p:sp>
        <p:nvSpPr>
          <p:cNvPr id="12" name="icon-map-path-1">
            <a:extLst xmlns:a="http://schemas.openxmlformats.org/drawingml/2006/main">
              <a:ext uri="{FF2B5EF4-FFF2-40B4-BE49-F238E27FC236}">
                <a16:creationId xmlns:a16="http://schemas.microsoft.com/office/drawing/2014/main" id="{944D4FDD-117F-4B07-85C1-99FCE48A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52925" y="2228850"/>
            <a:ext cx="857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1270A"/>
            </a:solidFill>
            <a:prstDash val="solid"/>
          </a:ln>
        </p:spPr>
      </p:sp>
      <p:sp>
        <p:nvSpPr>
          <p:cNvPr id="13" name="icon-map-path-2">
            <a:extLst xmlns:a="http://schemas.openxmlformats.org/drawingml/2006/main">
              <a:ext uri="{FF2B5EF4-FFF2-40B4-BE49-F238E27FC236}">
                <a16:creationId xmlns:a16="http://schemas.microsoft.com/office/drawing/2014/main" id="{44063917-EA3A-4880-810A-9973E7E8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38650" y="2228850"/>
            <a:ext cx="1333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1270A"/>
            </a:solidFill>
            <a:prstDash val="solid"/>
          </a:ln>
        </p:spPr>
      </p:sp>
      <p:sp>
        <p:nvSpPr>
          <p:cNvPr id="14" name="icon-map-path-3">
            <a:extLst xmlns:a="http://schemas.openxmlformats.org/drawingml/2006/main">
              <a:ext uri="{FF2B5EF4-FFF2-40B4-BE49-F238E27FC236}">
                <a16:creationId xmlns:a16="http://schemas.microsoft.com/office/drawing/2014/main" id="{84DC6371-DACC-4DBD-9BE4-E6C5858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0" y="2162175"/>
            <a:ext cx="1238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1270A"/>
            </a:solidFill>
            <a:prstDash val="solid"/>
          </a:ln>
        </p:spPr>
      </p:sp>
      <p:sp>
        <p:nvSpPr>
          <p:cNvPr id="15" name="skill-name-1">
            <a:extLst xmlns:a="http://schemas.openxmlformats.org/drawingml/2006/main">
              <a:ext uri="{FF2B5EF4-FFF2-40B4-BE49-F238E27FC236}">
                <a16:creationId xmlns:a16="http://schemas.microsoft.com/office/drawing/2014/main" id="{E75B09C2-0A2A-4FF7-B6DB-99DA3684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62250"/>
            <a:ext cx="1914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Provider map</a:t>
            </a:r>
          </a:p>
        </p:txBody>
      </p:sp>
      <p:sp>
        <p:nvSpPr>
          <p:cNvPr id="16" name="skill-title-1">
            <a:extLst xmlns:a="http://schemas.openxmlformats.org/drawingml/2006/main">
              <a:ext uri="{FF2B5EF4-FFF2-40B4-BE49-F238E27FC236}">
                <a16:creationId xmlns:a16="http://schemas.microsoft.com/office/drawing/2014/main" id="{53832A8C-4BBB-4551-A75C-BDCF8921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95625"/>
            <a:ext cx="1914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Provider 对照</a:t>
            </a:r>
          </a:p>
        </p:txBody>
      </p:sp>
      <p:sp>
        <p:nvSpPr>
          <p:cNvPr id="17" name="skill-output-1">
            <a:extLst xmlns:a="http://schemas.openxmlformats.org/drawingml/2006/main">
              <a:ext uri="{FF2B5EF4-FFF2-40B4-BE49-F238E27FC236}">
                <a16:creationId xmlns:a16="http://schemas.microsoft.com/office/drawing/2014/main" id="{6B77C8A7-0476-40C9-BBEF-8274E95E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43300"/>
            <a:ext cx="183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Zephyr API 与 Kconfig</a:t>
            </a:r>
          </a:p>
        </p:txBody>
      </p:sp>
      <p:sp>
        <p:nvSpPr>
          <p:cNvPr id="18" name="skill-node-2">
            <a:extLst xmlns:a="http://schemas.openxmlformats.org/drawingml/2006/main">
              <a:ext uri="{FF2B5EF4-FFF2-40B4-BE49-F238E27FC236}">
                <a16:creationId xmlns:a16="http://schemas.microsoft.com/office/drawing/2014/main" id="{06C1F1CD-3267-44C6-ABB3-C6EB4AA7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52600"/>
            <a:ext cx="2143125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19" name="icon-check-ring">
            <a:extLst xmlns:a="http://schemas.openxmlformats.org/drawingml/2006/main">
              <a:ext uri="{FF2B5EF4-FFF2-40B4-BE49-F238E27FC236}">
                <a16:creationId xmlns:a16="http://schemas.microsoft.com/office/drawing/2014/main" id="{6BA7954F-C099-442A-89B1-98731AAE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20" name="icon-check-a">
            <a:extLst xmlns:a="http://schemas.openxmlformats.org/drawingml/2006/main">
              <a:ext uri="{FF2B5EF4-FFF2-40B4-BE49-F238E27FC236}">
                <a16:creationId xmlns:a16="http://schemas.microsoft.com/office/drawing/2014/main" id="{711DE151-C68D-4D4B-8943-EA341738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210425" y="2266950"/>
            <a:ext cx="762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1270A"/>
            </a:solidFill>
            <a:prstDash val="solid"/>
          </a:ln>
        </p:spPr>
      </p:sp>
      <p:sp>
        <p:nvSpPr>
          <p:cNvPr id="21" name="icon-check-b">
            <a:extLst xmlns:a="http://schemas.openxmlformats.org/drawingml/2006/main">
              <a:ext uri="{FF2B5EF4-FFF2-40B4-BE49-F238E27FC236}">
                <a16:creationId xmlns:a16="http://schemas.microsoft.com/office/drawing/2014/main" id="{0B33C30A-050D-4FEE-8069-6F4596B2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86625" y="2181225"/>
            <a:ext cx="15240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1270A"/>
            </a:solidFill>
            <a:prstDash val="solid"/>
          </a:ln>
        </p:spPr>
      </p:sp>
      <p:sp>
        <p:nvSpPr>
          <p:cNvPr id="22" name="skill-name-2">
            <a:extLst xmlns:a="http://schemas.openxmlformats.org/drawingml/2006/main">
              <a:ext uri="{FF2B5EF4-FFF2-40B4-BE49-F238E27FC236}">
                <a16:creationId xmlns:a16="http://schemas.microsoft.com/office/drawing/2014/main" id="{825A6AA4-305A-41C6-BD19-B820079D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62250"/>
            <a:ext cx="1914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Test planner</a:t>
            </a:r>
          </a:p>
        </p:txBody>
      </p:sp>
      <p:sp>
        <p:nvSpPr>
          <p:cNvPr id="23" name="skill-title-2">
            <a:extLst xmlns:a="http://schemas.openxmlformats.org/drawingml/2006/main">
              <a:ext uri="{FF2B5EF4-FFF2-40B4-BE49-F238E27FC236}">
                <a16:creationId xmlns:a16="http://schemas.microsoft.com/office/drawing/2014/main" id="{297FD36B-0C6E-4170-97BF-5EB3226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95625"/>
            <a:ext cx="1914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语义测试</a:t>
            </a:r>
          </a:p>
        </p:txBody>
      </p:sp>
      <p:sp>
        <p:nvSpPr>
          <p:cNvPr id="24" name="skill-output-2">
            <a:extLst xmlns:a="http://schemas.openxmlformats.org/drawingml/2006/main">
              <a:ext uri="{FF2B5EF4-FFF2-40B4-BE49-F238E27FC236}">
                <a16:creationId xmlns:a16="http://schemas.microsoft.com/office/drawing/2014/main" id="{9F9ABA43-87D6-48C1-BD88-E35F6C8D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183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成功、错误与并发路径</a:t>
            </a:r>
          </a:p>
        </p:txBody>
      </p:sp>
      <p:sp>
        <p:nvSpPr>
          <p:cNvPr id="25" name="skill-node-3">
            <a:extLst xmlns:a="http://schemas.openxmlformats.org/drawingml/2006/main">
              <a:ext uri="{FF2B5EF4-FFF2-40B4-BE49-F238E27FC236}">
                <a16:creationId xmlns:a16="http://schemas.microsoft.com/office/drawing/2014/main" id="{D61E0076-3FC0-4D98-9C49-75D8010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752600"/>
            <a:ext cx="2143125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5"/>
          </a:solidFill>
          <a:ln xmlns:a="http://schemas.openxmlformats.org/drawingml/2006/main" w="14288">
            <a:solidFill>
              <a:srgbClr val="D7D7D7"/>
            </a:solidFill>
            <a:prstDash val="solid"/>
          </a:ln>
        </p:spPr>
      </p:sp>
      <p:sp>
        <p:nvSpPr>
          <p:cNvPr id="26" name="icon-layer-back">
            <a:extLst xmlns:a="http://schemas.openxmlformats.org/drawingml/2006/main">
              <a:ext uri="{FF2B5EF4-FFF2-40B4-BE49-F238E27FC236}">
                <a16:creationId xmlns:a16="http://schemas.microsoft.com/office/drawing/2014/main" id="{3035ABEF-4ED7-4980-9BE1-0FCDE7F8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66925"/>
            <a:ext cx="3524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27" name="icon-layer-front">
            <a:extLst xmlns:a="http://schemas.openxmlformats.org/drawingml/2006/main">
              <a:ext uri="{FF2B5EF4-FFF2-40B4-BE49-F238E27FC236}">
                <a16:creationId xmlns:a16="http://schemas.microsoft.com/office/drawing/2014/main" id="{A3D247AB-BB96-4B83-994E-98E6A037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171700"/>
            <a:ext cx="3524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270A"/>
            </a:solidFill>
            <a:prstDash val="solid"/>
          </a:ln>
        </p:spPr>
      </p:sp>
      <p:sp>
        <p:nvSpPr>
          <p:cNvPr id="28" name="icon-layer-row-a">
            <a:extLst xmlns:a="http://schemas.openxmlformats.org/drawingml/2006/main">
              <a:ext uri="{FF2B5EF4-FFF2-40B4-BE49-F238E27FC236}">
                <a16:creationId xmlns:a16="http://schemas.microsoft.com/office/drawing/2014/main" id="{47C51F0E-FC98-4E63-9114-B5DD8235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63150" y="2266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1270A"/>
            </a:solidFill>
            <a:prstDash val="solid"/>
          </a:ln>
        </p:spPr>
      </p:sp>
      <p:sp>
        <p:nvSpPr>
          <p:cNvPr id="29" name="icon-layer-row-b">
            <a:extLst xmlns:a="http://schemas.openxmlformats.org/drawingml/2006/main">
              <a:ext uri="{FF2B5EF4-FFF2-40B4-BE49-F238E27FC236}">
                <a16:creationId xmlns:a16="http://schemas.microsoft.com/office/drawing/2014/main" id="{8CB319D0-6055-4863-A6F9-8CDE7208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63150" y="23431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1270A"/>
            </a:solidFill>
            <a:prstDash val="solid"/>
          </a:ln>
        </p:spPr>
      </p:sp>
      <p:sp>
        <p:nvSpPr>
          <p:cNvPr id="30" name="skill-name-3">
            <a:extLst xmlns:a="http://schemas.openxmlformats.org/drawingml/2006/main">
              <a:ext uri="{FF2B5EF4-FFF2-40B4-BE49-F238E27FC236}">
                <a16:creationId xmlns:a16="http://schemas.microsoft.com/office/drawing/2014/main" id="{913852C1-0DA5-4BFD-934B-08A16127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2250"/>
            <a:ext cx="1914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Evidence report</a:t>
            </a:r>
          </a:p>
        </p:txBody>
      </p:sp>
      <p:sp>
        <p:nvSpPr>
          <p:cNvPr id="31" name="skill-title-3">
            <a:extLst xmlns:a="http://schemas.openxmlformats.org/drawingml/2006/main">
              <a:ext uri="{FF2B5EF4-FFF2-40B4-BE49-F238E27FC236}">
                <a16:creationId xmlns:a16="http://schemas.microsoft.com/office/drawing/2014/main" id="{8792DEC9-953D-4806-B1A1-22F8B433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95625"/>
            <a:ext cx="1914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证据报告</a:t>
            </a:r>
          </a:p>
        </p:txBody>
      </p:sp>
      <p:sp>
        <p:nvSpPr>
          <p:cNvPr id="32" name="skill-output-3">
            <a:extLst xmlns:a="http://schemas.openxmlformats.org/drawingml/2006/main">
              <a:ext uri="{FF2B5EF4-FFF2-40B4-BE49-F238E27FC236}">
                <a16:creationId xmlns:a16="http://schemas.microsoft.com/office/drawing/2014/main" id="{F7FB0032-1874-40D8-80A9-2764956F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543300"/>
            <a:ext cx="183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来源、配置与测试结果</a:t>
            </a:r>
          </a:p>
        </p:txBody>
      </p:sp>
    </p:spTree>
    <p:extLst>
      <p:ext uri="{BB962C8B-B14F-4D97-AF65-F5344CB8AC3E}">
        <p14:creationId xmlns:p14="http://schemas.microsoft.com/office/powerpoint/2010/main" val="13310686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1"/>
            </a:lvl1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双模式演示</a:t>
            </a:r>
          </a:p>
        </p:txBody>
      </p:sp>
      <p:sp>
        <p:nvSpPr>
          <p:cNvPr id="2" name="system-gif-label">
            <a:extLst xmlns:a="http://schemas.openxmlformats.org/drawingml/2006/main">
              <a:ext uri="{FF2B5EF4-FFF2-40B4-BE49-F238E27FC236}">
                <a16:creationId xmlns:a16="http://schemas.microsoft.com/office/drawing/2014/main" id="{0429923A-28AC-4C70-9FE9-60CD04AA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535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System Mode  ·  Alpine Linux 桌面</a:t>
            </a:r>
          </a:p>
        </p:txBody>
      </p:sp>
      <p:sp>
        <p:nvSpPr>
          <p:cNvPr id="3" name="user-gif-label">
            <a:extLst xmlns:a="http://schemas.openxmlformats.org/drawingml/2006/main">
              <a:ext uri="{FF2B5EF4-FFF2-40B4-BE49-F238E27FC236}">
                <a16:creationId xmlns:a16="http://schemas.microsoft.com/office/drawing/2014/main" id="{6C549CB6-929E-4F11-A968-C7F66F66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57300"/>
            <a:ext cx="535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User Mode  ·  静态 AArch64 程序</a:t>
            </a:r>
          </a:p>
        </p:txBody>
      </p:sp>
      <p:sp>
        <p:nvSpPr>
          <p:cNvPr id="4" name="system-gif-frame">
            <a:extLst xmlns:a="http://schemas.openxmlformats.org/drawingml/2006/main">
              <a:ext uri="{FF2B5EF4-FFF2-40B4-BE49-F238E27FC236}">
                <a16:creationId xmlns:a16="http://schemas.microsoft.com/office/drawing/2014/main" id="{FFA20398-99DE-4505-A016-AEACD27C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5353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4288">
            <a:solidFill>
              <a:srgbClr val="CFCFCF"/>
            </a:solidFill>
            <a:prstDash val="solid"/>
          </a:ln>
        </p:spPr>
      </p:sp>
      <p:sp>
        <p:nvSpPr>
          <p:cNvPr id="5" name="user-gif-frame">
            <a:extLst xmlns:a="http://schemas.openxmlformats.org/drawingml/2006/main">
              <a:ext uri="{FF2B5EF4-FFF2-40B4-BE49-F238E27FC236}">
                <a16:creationId xmlns:a16="http://schemas.microsoft.com/office/drawing/2014/main" id="{49AA889E-05A7-4699-8EF2-F52965F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71625"/>
            <a:ext cx="5353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4288">
            <a:solidFill>
              <a:srgbClr val="CFCFCF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0ACB5-8A95-4EB2-BE29-B619D77AC4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6d52503564b45"/>
          <a:stretch xmlns:a="http://schemas.openxmlformats.org/drawingml/2006/main"/>
        </p:blipFill>
        <p:spPr>
          <a:xfrm xmlns:a="http://schemas.openxmlformats.org/drawingml/2006/main">
            <a:off x="987425" y="1647825"/>
            <a:ext cx="4368800" cy="32766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D6278-24DF-44FA-99FC-A1EDA385C5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c769ab4864b55"/>
          <a:stretch xmlns:a="http://schemas.openxmlformats.org/drawingml/2006/main"/>
        </p:blipFill>
        <p:spPr>
          <a:xfrm xmlns:a="http://schemas.openxmlformats.org/drawingml/2006/main">
            <a:off x="6419850" y="1709678"/>
            <a:ext cx="5200650" cy="3152894"/>
          </a:xfrm>
          <a:prstGeom xmlns:a="http://schemas.openxmlformats.org/drawingml/2006/main" prst="rect">
            <a:avLst/>
          </a:prstGeom>
        </p:spPr>
      </p:pic>
      <p:sp>
        <p:nvSpPr>
          <p:cNvPr id="8" name="system-gif-caption">
            <a:extLst xmlns:a="http://schemas.openxmlformats.org/drawingml/2006/main">
              <a:ext uri="{FF2B5EF4-FFF2-40B4-BE49-F238E27FC236}">
                <a16:creationId xmlns:a16="http://schemas.microsoft.com/office/drawing/2014/main" id="{4ADFE222-C515-4C9B-AD3A-E6068C3B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535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Xorg  ·  JWM  ·  800 × 600</a:t>
            </a:r>
          </a:p>
        </p:txBody>
      </p:sp>
      <p:sp>
        <p:nvSpPr>
          <p:cNvPr id="9" name="user-gif-caption">
            <a:extLst xmlns:a="http://schemas.openxmlformats.org/drawingml/2006/main">
              <a:ext uri="{FF2B5EF4-FFF2-40B4-BE49-F238E27FC236}">
                <a16:creationId xmlns:a16="http://schemas.microsoft.com/office/drawing/2014/main" id="{52B21104-015A-4B25-949E-8A985F78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67300"/>
            <a:ext cx="535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Linux 系统调用  ·  Zephyr shell</a:t>
            </a:r>
          </a:p>
        </p:txBody>
      </p:sp>
    </p:spTree>
    <p:extLst>
      <p:ext uri="{BB962C8B-B14F-4D97-AF65-F5344CB8AC3E}">
        <p14:creationId xmlns:p14="http://schemas.microsoft.com/office/powerpoint/2010/main" val="5990556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1"/>
            </a:lvl1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运行 NanoJev 大模型推理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3CB9C-F4D8-41B5-A79A-6AA9A931DC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f6a29072b4dee"/>
          <a:stretch xmlns:a="http://schemas.openxmlformats.org/drawingml/2006/main"/>
        </p:blipFill>
        <p:spPr>
          <a:xfrm xmlns:a="http://schemas.openxmlformats.org/drawingml/2006/main">
            <a:off x="457200" y="1314450"/>
            <a:ext cx="6705600" cy="5029200"/>
          </a:xfrm>
          <a:prstGeom xmlns:a="http://schemas.openxmlformats.org/drawingml/2006/main" prst="rect">
            <a:avLst/>
          </a:prstGeom>
        </p:spPr>
      </p:pic>
      <p:sp>
        <p:nvSpPr>
          <p:cNvPr id="3" name="nanojev-accelerator">
            <a:extLst xmlns:a="http://schemas.openxmlformats.org/drawingml/2006/main">
              <a:ext uri="{FF2B5EF4-FFF2-40B4-BE49-F238E27FC236}">
                <a16:creationId xmlns:a16="http://schemas.microsoft.com/office/drawing/2014/main" id="{2926E525-6411-4DC5-BE7C-8ADAA306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1270A"/>
                </a:solidFill>
                <a:latin typeface="Microsoft YaHei"/>
                <a:ea typeface="Microsoft YaHei"/>
                <a:cs typeface="Microsoft YaHei"/>
              </a:rPr>
              <a:t>QEMU on Zephyr 全系统模拟</a:t>
            </a:r>
          </a:p>
        </p:txBody>
      </p:sp>
      <p:sp>
        <p:nvSpPr>
          <p:cNvPr id="4" name="nanojev-runtime">
            <a:extLst xmlns:a="http://schemas.openxmlformats.org/drawingml/2006/main">
              <a:ext uri="{FF2B5EF4-FFF2-40B4-BE49-F238E27FC236}">
                <a16:creationId xmlns:a16="http://schemas.microsoft.com/office/drawing/2014/main" id="{16D03308-AA0A-47C4-AC6F-F900853E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在 Debian ARM64 桌面内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执行 NanoJev 大模型推理</a:t>
            </a:r>
          </a:p>
        </p:txBody>
      </p:sp>
      <p:sp>
        <p:nvSpPr>
          <p:cNvPr id="5" name="nanojev-model">
            <a:extLst xmlns:a="http://schemas.openxmlformats.org/drawingml/2006/main">
              <a:ext uri="{FF2B5EF4-FFF2-40B4-BE49-F238E27FC236}">
                <a16:creationId xmlns:a16="http://schemas.microsoft.com/office/drawing/2014/main" id="{43121D97-8F9A-4906-803C-5E566D15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4095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Qwen3-0.6B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动态 INT8 量化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3 GiB 客体内存</a:t>
            </a:r>
          </a:p>
        </p:txBody>
      </p:sp>
      <p:sp>
        <p:nvSpPr>
          <p:cNvPr id="6" name="nanojev-build">
            <a:extLst xmlns:a="http://schemas.openxmlformats.org/drawingml/2006/main">
              <a:ext uri="{FF2B5EF4-FFF2-40B4-BE49-F238E27FC236}">
                <a16:creationId xmlns:a16="http://schemas.microsoft.com/office/drawing/2014/main" id="{A4A99D32-F060-4910-A0E5-B956AE15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采用硬件虚拟化加速</a:t>
            </a:r>
          </a:p>
        </p:txBody>
      </p:sp>
    </p:spTree>
    <p:extLst>
      <p:ext uri="{BB962C8B-B14F-4D97-AF65-F5344CB8AC3E}">
        <p14:creationId xmlns:p14="http://schemas.microsoft.com/office/powerpoint/2010/main" val="16160259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标题 1">
            <a:extLst xmlns:a="http://schemas.openxmlformats.org/drawingml/2006/main">
              <a:ext uri="{FF2B5EF4-FFF2-40B4-BE49-F238E27FC236}">
                <a16:creationId xmlns:a16="http://schemas.microsoft.com/office/drawing/2014/main" id="{F537509C-2CB3-B363-A4A3-47E3570A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1"/>
            </a:lvl1pPr>
          </a:lstStyle>
          <a:p xmlns:a="http://schemas.openxmlformats.org/drawingml/2006/main">
            <a:pPr algn="l">
              <a:buNone/>
              <a:def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2" name="closing-thanks">
            <a:extLst xmlns:a="http://schemas.openxmlformats.org/drawingml/2006/main">
              <a:ext uri="{FF2B5EF4-FFF2-40B4-BE49-F238E27FC236}">
                <a16:creationId xmlns:a16="http://schemas.microsoft.com/office/drawing/2014/main" id="{2F3834C9-4B78-479A-A317-D84E1AE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33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D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3" name="repository-label-0">
            <a:extLst xmlns:a="http://schemas.openxmlformats.org/drawingml/2006/main">
              <a:ext uri="{FF2B5EF4-FFF2-40B4-BE49-F238E27FC236}">
                <a16:creationId xmlns:a16="http://schemas.microsoft.com/office/drawing/2014/main" id="{3E8ADC5B-2C27-4087-BC63-102EC0FD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47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QEMU on Zephyr 仓库</a:t>
            </a:r>
          </a:p>
        </p:txBody>
      </p:sp>
      <p:sp>
        <p:nvSpPr>
          <p:cNvPr id="4" name="repository-qr-frame-0">
            <a:extLst xmlns:a="http://schemas.openxmlformats.org/drawingml/2006/main">
              <a:ext uri="{FF2B5EF4-FFF2-40B4-BE49-F238E27FC236}">
                <a16:creationId xmlns:a16="http://schemas.microsoft.com/office/drawing/2014/main" id="{71714DB4-B2FA-4D28-A200-A80CA3E3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98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D4AF4-2F8D-4595-A52E-E25F9BE22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6a0df379e435f"/>
          <a:stretch xmlns:a="http://schemas.openxmlformats.org/drawingml/2006/main"/>
        </p:blipFill>
        <p:spPr>
          <a:xfrm xmlns:a="http://schemas.openxmlformats.org/drawingml/2006/main">
            <a:off x="2838450" y="2686050"/>
            <a:ext cx="1409700" cy="1409700"/>
          </a:xfrm>
          <a:prstGeom xmlns:a="http://schemas.openxmlformats.org/drawingml/2006/main" prst="rect">
            <a:avLst/>
          </a:prstGeom>
        </p:spPr>
      </p:pic>
      <p:sp>
        <p:nvSpPr>
          <p:cNvPr id="6" name="repository-link-0">
            <a:extLst xmlns:a="http://schemas.openxmlformats.org/drawingml/2006/main">
              <a:ext uri="{FF2B5EF4-FFF2-40B4-BE49-F238E27FC236}">
                <a16:creationId xmlns:a16="http://schemas.microsoft.com/office/drawing/2014/main" id="{C0D71B9F-D9E5-4ED6-9FE5-D92853AA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b92a77eda54743"/>
              </a:rPr>
              <a:t>https://github.com/processmission/qemu-on-zephyr</a:t>
            </a:r>
          </a:p>
        </p:txBody>
      </p:sp>
      <p:sp>
        <p:nvSpPr>
          <p:cNvPr id="7" name="repository-label-1">
            <a:extLst xmlns:a="http://schemas.openxmlformats.org/drawingml/2006/main">
              <a:ext uri="{FF2B5EF4-FFF2-40B4-BE49-F238E27FC236}">
                <a16:creationId xmlns:a16="http://schemas.microsoft.com/office/drawing/2014/main" id="{5E4624F2-9FE1-4BA9-8F66-39E8C96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Agent Skills 仓库</a:t>
            </a:r>
          </a:p>
        </p:txBody>
      </p:sp>
      <p:sp>
        <p:nvSpPr>
          <p:cNvPr id="8" name="repository-qr-frame-1">
            <a:extLst xmlns:a="http://schemas.openxmlformats.org/drawingml/2006/main">
              <a:ext uri="{FF2B5EF4-FFF2-40B4-BE49-F238E27FC236}">
                <a16:creationId xmlns:a16="http://schemas.microsoft.com/office/drawing/2014/main" id="{3C08B3BB-FC81-40AB-BC9A-3531F242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55518-E51F-48B3-82EC-938BE1BDA4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acbc08f4a4757"/>
          <a:stretch xmlns:a="http://schemas.openxmlformats.org/drawingml/2006/main"/>
        </p:blipFill>
        <p:spPr>
          <a:xfrm xmlns:a="http://schemas.openxmlformats.org/drawingml/2006/main">
            <a:off x="7943850" y="2686050"/>
            <a:ext cx="1409700" cy="1409700"/>
          </a:xfrm>
          <a:prstGeom xmlns:a="http://schemas.openxmlformats.org/drawingml/2006/main" prst="rect">
            <a:avLst/>
          </a:prstGeom>
        </p:spPr>
      </p:pic>
      <p:sp>
        <p:nvSpPr>
          <p:cNvPr id="10" name="repository-link-1">
            <a:extLst xmlns:a="http://schemas.openxmlformats.org/drawingml/2006/main">
              <a:ext uri="{FF2B5EF4-FFF2-40B4-BE49-F238E27FC236}">
                <a16:creationId xmlns:a16="http://schemas.microsoft.com/office/drawing/2014/main" id="{D83D779F-7574-4ECD-9D51-5125B4B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d204ade04db454a"/>
              </a:rPr>
              <a:t>https://github.com/processmission/agent-skills</a:t>
            </a:r>
          </a:p>
        </p:txBody>
      </p:sp>
      <p:sp>
        <p:nvSpPr>
          <p:cNvPr id="11" name="repository-link-hint">
            <a:extLst xmlns:a="http://schemas.openxmlformats.org/drawingml/2006/main">
              <a:ext uri="{FF2B5EF4-FFF2-40B4-BE49-F238E27FC236}">
                <a16:creationId xmlns:a16="http://schemas.microsoft.com/office/drawing/2014/main" id="{1C706B6B-EB7A-47ED-A200-74680E68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24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扫码或点击链接访问对应仓库</a:t>
            </a:r>
          </a:p>
        </p:txBody>
      </p:sp>
    </p:spTree>
    <p:extLst>
      <p:ext uri="{BB962C8B-B14F-4D97-AF65-F5344CB8AC3E}">
        <p14:creationId xmlns:p14="http://schemas.microsoft.com/office/powerpoint/2010/main" val="98923921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1">
      <a:majorFont>
        <a:latin typeface="微软雅黑 bold"/>
        <a:ea typeface="微软雅黑 bold"/>
        <a:cs typeface=""/>
      </a:majorFont>
      <a:minorFont>
        <a:latin typeface="微软雅黑"/>
        <a:ea typeface="微软雅黑"/>
        <a:cs typeface=""/>
      </a:minorFont>
    </a:fontScheme>
    <a:fmtScheme name="红橙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2026-10-10T00:59:10.9430000Z</dcterms:created>
  <dcterms:modified xsi:type="dcterms:W3CDTF">2026-10-10T00:59:10.9430000Z</dcterms:modified>
</coreProperties>
</file>